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Gelasio"/>
      <p:regular r:id="rId201314"/>
    </p:embeddedFont>
    <p:embeddedFont>
      <p:font typeface="Gelasio SemiBold"/>
      <p:regular r:id="rId201315"/>
    </p:embeddedFont>
    <p:embeddedFont>
      <p:font typeface="Gelasi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DCFBB"/>
          </a:solidFill>
          <a:ln/>
        </p:spPr>
      </p:sp>
      <p:sp>
        <p:nvSpPr>
          <p:cNvPr id="3" name="Shape 1"/>
          <p:cNvSpPr/>
          <p:nvPr/>
        </p:nvSpPr>
        <p:spPr>
          <a:xfrm>
            <a:off x="0" y="0"/>
            <a:ext cx="9144000" cy="51435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image" Target="../media/image-6-17.png"/><Relationship Id="rId18" Type="http://schemas.openxmlformats.org/officeDocument/2006/relationships/slideLayout" Target="../slideLayouts/slideLayout2.xml"/><Relationship Id="rId1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png"/><Relationship Id="rId14" Type="http://schemas.openxmlformats.org/officeDocument/2006/relationships/image" Target="../media/image-10-2.svg"/><Relationship Id="rId15" Type="http://schemas.openxmlformats.org/officeDocument/2006/relationships/image" Target="../media/image-10-15.png"/><Relationship Id="rId16" Type="http://schemas.openxmlformats.org/officeDocument/2006/relationships/image" Target="../media/image-10-16.sv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728639"/>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484237"/>
                </a:solidFill>
                <a:latin typeface="Gelasio SemiBold" pitchFamily="34" charset="0"/>
                <a:ea typeface="Gelasio SemiBold" pitchFamily="34" charset="-122"/>
                <a:cs typeface="Gelasio SemiBold" pitchFamily="34" charset="-120"/>
              </a:rPr>
              <a:t>Wildlife Conflict and Movement Predictor Using AI</a:t>
            </a:r>
            <a:endParaRPr lang="en-US" sz="2400" dirty="0"/>
          </a:p>
        </p:txBody>
      </p:sp>
      <p:sp>
        <p:nvSpPr>
          <p:cNvPr id="4" name="Text 1"/>
          <p:cNvSpPr/>
          <p:nvPr/>
        </p:nvSpPr>
        <p:spPr>
          <a:xfrm>
            <a:off x="3925119" y="2689771"/>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Internship Report · School of Computer Science and Engineering · IILM University, Greater Noida, U.P.</a:t>
            </a:r>
            <a:endParaRPr lang="en-US" sz="950" dirty="0"/>
          </a:p>
        </p:txBody>
      </p:sp>
      <p:sp>
        <p:nvSpPr>
          <p:cNvPr id="5" name="Shape 2"/>
          <p:cNvSpPr/>
          <p:nvPr/>
        </p:nvSpPr>
        <p:spPr>
          <a:xfrm>
            <a:off x="3925119" y="3226222"/>
            <a:ext cx="1191667" cy="188565"/>
          </a:xfrm>
          <a:prstGeom prst="roundRect">
            <a:avLst>
              <a:gd name="adj" fmla="val 7894"/>
            </a:avLst>
          </a:prstGeom>
          <a:solidFill>
            <a:srgbClr val="ECE6DF"/>
          </a:solidFill>
          <a:ln/>
        </p:spPr>
      </p:sp>
      <p:sp>
        <p:nvSpPr>
          <p:cNvPr id="6" name="Text 3"/>
          <p:cNvSpPr/>
          <p:nvPr/>
        </p:nvSpPr>
        <p:spPr>
          <a:xfrm>
            <a:off x="3999533" y="3263429"/>
            <a:ext cx="1500039" cy="114151"/>
          </a:xfrm>
          <a:prstGeom prst="rect">
            <a:avLst/>
          </a:prstGeom>
          <a:noFill/>
          <a:ln/>
        </p:spPr>
        <p:txBody>
          <a:bodyPr wrap="none" lIns="0" tIns="0" rIns="0" bIns="0" rtlCol="0" anchor="t"/>
          <a:lstStyle/>
          <a:p>
            <a:pPr algn="l" indent="0" marL="0">
              <a:lnSpc>
                <a:spcPct val="96000"/>
              </a:lnSpc>
              <a:buNone/>
            </a:pPr>
            <a:r>
              <a:rPr lang="en-US" sz="750" dirty="0">
                <a:solidFill>
                  <a:srgbClr val="746558"/>
                </a:solidFill>
                <a:latin typeface="Gelasio" pitchFamily="34" charset="0"/>
                <a:ea typeface="Gelasio" pitchFamily="34" charset="-122"/>
                <a:cs typeface="Gelasio" pitchFamily="34" charset="-120"/>
              </a:rPr>
              <a:t>B.TECH CSE · 2026–27</a:t>
            </a:r>
            <a:endParaRPr lang="en-US" sz="750" dirty="0"/>
          </a:p>
        </p:txBody>
      </p:sp>
      <p:sp>
        <p:nvSpPr>
          <p:cNvPr id="7" name="Shape 4"/>
          <p:cNvSpPr/>
          <p:nvPr/>
        </p:nvSpPr>
        <p:spPr>
          <a:xfrm>
            <a:off x="5178772" y="3226222"/>
            <a:ext cx="1984474" cy="188565"/>
          </a:xfrm>
          <a:prstGeom prst="roundRect">
            <a:avLst>
              <a:gd name="adj" fmla="val 7894"/>
            </a:avLst>
          </a:prstGeom>
          <a:noFill/>
          <a:ln w="4763">
            <a:solidFill>
              <a:srgbClr val="D3C5B6"/>
            </a:solidFill>
            <a:prstDash val="solid"/>
          </a:ln>
        </p:spPr>
      </p:sp>
      <p:sp>
        <p:nvSpPr>
          <p:cNvPr id="8" name="Text 5"/>
          <p:cNvSpPr/>
          <p:nvPr/>
        </p:nvSpPr>
        <p:spPr>
          <a:xfrm>
            <a:off x="5253186" y="3263429"/>
            <a:ext cx="2292846" cy="114151"/>
          </a:xfrm>
          <a:prstGeom prst="rect">
            <a:avLst/>
          </a:prstGeom>
          <a:noFill/>
          <a:ln/>
        </p:spPr>
        <p:txBody>
          <a:bodyPr wrap="none" lIns="0" tIns="0" rIns="0" bIns="0" rtlCol="0" anchor="t"/>
          <a:lstStyle/>
          <a:p>
            <a:pPr algn="l" indent="0" marL="0">
              <a:lnSpc>
                <a:spcPct val="96000"/>
              </a:lnSpc>
              <a:buNone/>
            </a:pPr>
            <a:r>
              <a:rPr lang="en-US" sz="750" dirty="0">
                <a:solidFill>
                  <a:srgbClr val="D3C5B6"/>
                </a:solidFill>
                <a:latin typeface="Gelasio" pitchFamily="34" charset="0"/>
                <a:ea typeface="Gelasio" pitchFamily="34" charset="-122"/>
                <a:cs typeface="Gelasio" pitchFamily="34" charset="-120"/>
              </a:rPr>
              <a:t>MARS INTERNSHIP · JUNE–JULY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644649"/>
            <a:ext cx="4722763" cy="387548"/>
          </a:xfrm>
          <a:prstGeom prst="rect">
            <a:avLst/>
          </a:prstGeom>
          <a:noFill/>
          <a:ln/>
        </p:spPr>
        <p:txBody>
          <a:bodyPr wrap="none" lIns="0" tIns="0" rIns="0" bIns="0" rtlCol="0" anchor="t"/>
          <a:lstStyle/>
          <a:p>
            <a:pPr algn="l" indent="0" marL="0">
              <a:lnSpc>
                <a:spcPct val="104000"/>
              </a:lnSpc>
              <a:buNone/>
            </a:pPr>
            <a:r>
              <a:rPr lang="en-US" sz="2400" dirty="0">
                <a:solidFill>
                  <a:srgbClr val="484237"/>
                </a:solidFill>
                <a:latin typeface="Gelasio SemiBold" pitchFamily="34" charset="0"/>
                <a:ea typeface="Gelasio SemiBold" pitchFamily="34" charset="-122"/>
                <a:cs typeface="Gelasio SemiBold" pitchFamily="34" charset="-120"/>
              </a:rPr>
              <a:t>Report Overview</a:t>
            </a:r>
            <a:endParaRPr lang="en-US" sz="2400" dirty="0"/>
          </a:p>
        </p:txBody>
      </p:sp>
      <p:sp>
        <p:nvSpPr>
          <p:cNvPr id="4" name="Shape 1"/>
          <p:cNvSpPr/>
          <p:nvPr/>
        </p:nvSpPr>
        <p:spPr>
          <a:xfrm>
            <a:off x="3925119" y="1218233"/>
            <a:ext cx="2299395" cy="1111597"/>
          </a:xfrm>
          <a:prstGeom prst="roundRect">
            <a:avLst>
              <a:gd name="adj" fmla="val 1674"/>
            </a:avLst>
          </a:prstGeom>
          <a:solidFill>
            <a:srgbClr val="EEE8DD"/>
          </a:solidFill>
          <a:ln/>
        </p:spPr>
      </p:sp>
      <p:sp>
        <p:nvSpPr>
          <p:cNvPr id="5" name="Text 2"/>
          <p:cNvSpPr/>
          <p:nvPr/>
        </p:nvSpPr>
        <p:spPr>
          <a:xfrm>
            <a:off x="4049092" y="1342206"/>
            <a:ext cx="2051447"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Student</a:t>
            </a:r>
            <a:endParaRPr lang="en-US" sz="1200" dirty="0"/>
          </a:p>
        </p:txBody>
      </p:sp>
      <p:sp>
        <p:nvSpPr>
          <p:cNvPr id="6" name="Text 3"/>
          <p:cNvSpPr/>
          <p:nvPr/>
        </p:nvSpPr>
        <p:spPr>
          <a:xfrm>
            <a:off x="4049092" y="1610469"/>
            <a:ext cx="205144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Abhishek Kumar Mishra</a:t>
            </a:r>
            <a:endParaRPr lang="en-US" sz="950" dirty="0"/>
          </a:p>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Roll No.: 25SCS1003001223</a:t>
            </a:r>
            <a:endParaRPr lang="en-US" sz="950" dirty="0"/>
          </a:p>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Batch: 2026–27 · Section: 2CSE31</a:t>
            </a:r>
            <a:endParaRPr lang="en-US" sz="950" dirty="0"/>
          </a:p>
        </p:txBody>
      </p:sp>
      <p:sp>
        <p:nvSpPr>
          <p:cNvPr id="7" name="Shape 4"/>
          <p:cNvSpPr/>
          <p:nvPr/>
        </p:nvSpPr>
        <p:spPr>
          <a:xfrm>
            <a:off x="6348487" y="1218233"/>
            <a:ext cx="2299395" cy="1111597"/>
          </a:xfrm>
          <a:prstGeom prst="roundRect">
            <a:avLst>
              <a:gd name="adj" fmla="val 1674"/>
            </a:avLst>
          </a:prstGeom>
          <a:solidFill>
            <a:srgbClr val="EEE8DD"/>
          </a:solidFill>
          <a:ln/>
        </p:spPr>
      </p:sp>
      <p:sp>
        <p:nvSpPr>
          <p:cNvPr id="8" name="Text 5"/>
          <p:cNvSpPr/>
          <p:nvPr/>
        </p:nvSpPr>
        <p:spPr>
          <a:xfrm>
            <a:off x="6472461" y="1342206"/>
            <a:ext cx="2051447"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Internship Details</a:t>
            </a:r>
            <a:endParaRPr lang="en-US" sz="1200" dirty="0"/>
          </a:p>
        </p:txBody>
      </p:sp>
      <p:sp>
        <p:nvSpPr>
          <p:cNvPr id="9" name="Text 6"/>
          <p:cNvSpPr/>
          <p:nvPr/>
        </p:nvSpPr>
        <p:spPr>
          <a:xfrm>
            <a:off x="6472461" y="1610469"/>
            <a:ext cx="205144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Organization: MARS Internship</a:t>
            </a:r>
            <a:endParaRPr lang="en-US" sz="950" dirty="0"/>
          </a:p>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Mode: Online</a:t>
            </a:r>
            <a:endParaRPr lang="en-US" sz="950" dirty="0"/>
          </a:p>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Period: 1 June 2026 – 15 July 2026</a:t>
            </a:r>
            <a:endParaRPr lang="en-US" sz="950" dirty="0"/>
          </a:p>
        </p:txBody>
      </p:sp>
      <p:sp>
        <p:nvSpPr>
          <p:cNvPr id="10" name="Shape 7"/>
          <p:cNvSpPr/>
          <p:nvPr/>
        </p:nvSpPr>
        <p:spPr>
          <a:xfrm>
            <a:off x="3925119" y="2453804"/>
            <a:ext cx="4722763" cy="1111597"/>
          </a:xfrm>
          <a:prstGeom prst="roundRect">
            <a:avLst>
              <a:gd name="adj" fmla="val 1674"/>
            </a:avLst>
          </a:prstGeom>
          <a:solidFill>
            <a:srgbClr val="EEE8DD"/>
          </a:solidFill>
          <a:ln/>
        </p:spPr>
      </p:sp>
      <p:sp>
        <p:nvSpPr>
          <p:cNvPr id="11" name="Text 8"/>
          <p:cNvSpPr/>
          <p:nvPr/>
        </p:nvSpPr>
        <p:spPr>
          <a:xfrm>
            <a:off x="4049092" y="2577778"/>
            <a:ext cx="4474815"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Project Coverage</a:t>
            </a:r>
            <a:endParaRPr lang="en-US" sz="1200" dirty="0"/>
          </a:p>
        </p:txBody>
      </p:sp>
      <p:sp>
        <p:nvSpPr>
          <p:cNvPr id="12" name="Text 9"/>
          <p:cNvSpPr/>
          <p:nvPr/>
        </p:nvSpPr>
        <p:spPr>
          <a:xfrm>
            <a:off x="4049092" y="2846040"/>
            <a:ext cx="4474815"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10 National Parks</a:t>
            </a:r>
            <a:endParaRPr lang="en-US" sz="950" dirty="0"/>
          </a:p>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Primary Users: Rural communities &amp; park rangers</a:t>
            </a:r>
            <a:endParaRPr lang="en-US" sz="950" dirty="0"/>
          </a:p>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Type: Web-based wildlife monitoring platform</a:t>
            </a:r>
            <a:endParaRPr lang="en-US" sz="950" dirty="0"/>
          </a:p>
        </p:txBody>
      </p:sp>
      <p:sp>
        <p:nvSpPr>
          <p:cNvPr id="13" name="Text 10"/>
          <p:cNvSpPr/>
          <p:nvPr/>
        </p:nvSpPr>
        <p:spPr>
          <a:xfrm>
            <a:off x="3925119" y="3704927"/>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The student declares that this report presents original internship work completed in partial fulfillment of the B.Tech CSE degree at IILM University. Acknowledgements are extended to IILM University, MARS Internship, teammates, and family for their support throughout the internship period.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046931"/>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484237"/>
                </a:solidFill>
                <a:latin typeface="Gelasio SemiBold" pitchFamily="34" charset="0"/>
                <a:ea typeface="Gelasio SemiBold" pitchFamily="34" charset="-122"/>
                <a:cs typeface="Gelasio SemiBold" pitchFamily="34" charset="-120"/>
              </a:rPr>
              <a:t>Organization Profile &amp; Certificate</a:t>
            </a:r>
            <a:endParaRPr lang="en-US" sz="2400" dirty="0"/>
          </a:p>
        </p:txBody>
      </p:sp>
      <p:sp>
        <p:nvSpPr>
          <p:cNvPr id="3" name="Shape 1"/>
          <p:cNvSpPr/>
          <p:nvPr/>
        </p:nvSpPr>
        <p:spPr>
          <a:xfrm>
            <a:off x="406822" y="1620515"/>
            <a:ext cx="4103191" cy="2475979"/>
          </a:xfrm>
          <a:prstGeom prst="roundRect">
            <a:avLst>
              <a:gd name="adj" fmla="val 751"/>
            </a:avLst>
          </a:prstGeom>
          <a:solidFill>
            <a:srgbClr val="D3C5B6"/>
          </a:solidFill>
          <a:ln/>
        </p:spPr>
      </p:sp>
      <p:sp>
        <p:nvSpPr>
          <p:cNvPr id="4" name="Text 2"/>
          <p:cNvSpPr/>
          <p:nvPr/>
        </p:nvSpPr>
        <p:spPr>
          <a:xfrm>
            <a:off x="530796" y="1744489"/>
            <a:ext cx="3855244"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484237"/>
                </a:solidFill>
                <a:latin typeface="Gelasio SemiBold" pitchFamily="34" charset="0"/>
                <a:ea typeface="Gelasio SemiBold" pitchFamily="34" charset="-122"/>
                <a:cs typeface="Gelasio SemiBold" pitchFamily="34" charset="-120"/>
              </a:rPr>
              <a:t>MARS – Centre for Sustainable Community Development</a:t>
            </a:r>
            <a:endParaRPr lang="en-US" sz="1200" dirty="0"/>
          </a:p>
        </p:txBody>
      </p:sp>
      <p:sp>
        <p:nvSpPr>
          <p:cNvPr id="5" name="Text 3"/>
          <p:cNvSpPr/>
          <p:nvPr/>
        </p:nvSpPr>
        <p:spPr>
          <a:xfrm>
            <a:off x="530796" y="2256160"/>
            <a:ext cx="3855244"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Gelasio" pitchFamily="34" charset="0"/>
                <a:ea typeface="Gelasio" pitchFamily="34" charset="-122"/>
                <a:cs typeface="Gelasio" pitchFamily="34" charset="-120"/>
              </a:rPr>
              <a:t>MARS Internship was the organization through which this internship was conducted. The program involved collaborative, remote project development by a team of students focused on building a working software project around the wildlife-conflict problem. The work environment emphasized project completion, collaboration, implementation, and iterative improvement — providing exposure to taking a project idea and turning it into an integrated application with multiple user-facing and data-oriented modules.</a:t>
            </a:r>
            <a:endParaRPr lang="en-US" sz="950" dirty="0"/>
          </a:p>
        </p:txBody>
      </p:sp>
      <p:sp>
        <p:nvSpPr>
          <p:cNvPr id="6" name="Text 4"/>
          <p:cNvSpPr/>
          <p:nvPr/>
        </p:nvSpPr>
        <p:spPr>
          <a:xfrm>
            <a:off x="4728046" y="1744489"/>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484237"/>
                </a:solidFill>
                <a:latin typeface="Gelasio SemiBold" pitchFamily="34" charset="0"/>
                <a:ea typeface="Gelasio SemiBold" pitchFamily="34" charset="-122"/>
                <a:cs typeface="Gelasio SemiBold" pitchFamily="34" charset="-120"/>
              </a:rPr>
              <a:t>Certificate of Completion</a:t>
            </a:r>
            <a:endParaRPr lang="en-US" sz="1200" dirty="0"/>
          </a:p>
        </p:txBody>
      </p:sp>
      <p:sp>
        <p:nvSpPr>
          <p:cNvPr id="7" name="Text 5"/>
          <p:cNvSpPr/>
          <p:nvPr/>
        </p:nvSpPr>
        <p:spPr>
          <a:xfrm>
            <a:off x="4728046" y="2062311"/>
            <a:ext cx="3924598" cy="192256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Reference No.: MARS/INT-CERT/2026/055</a:t>
            </a:r>
            <a:endParaRPr lang="en-US" sz="950" dirty="0"/>
          </a:p>
          <a:p>
            <a:pPr algn="l" indent="0" marL="0">
              <a:lnSpc>
                <a:spcPct val="133000"/>
              </a:lnSpc>
              <a:spcAft>
                <a:spcPts val="850"/>
              </a:spcAft>
              <a:buNone/>
            </a:pPr>
            <a:r>
              <a:rPr lang="en-US" sz="950" dirty="0">
                <a:solidFill>
                  <a:srgbClr val="746558"/>
                </a:solidFill>
                <a:latin typeface="Gelasio" pitchFamily="34" charset="0"/>
                <a:ea typeface="Gelasio" pitchFamily="34" charset="-122"/>
                <a:cs typeface="Gelasio" pitchFamily="34" charset="-120"/>
              </a:rPr>
              <a:t>Date of Issue: July 31, 2026</a:t>
            </a:r>
            <a:endParaRPr lang="en-US" sz="950" dirty="0"/>
          </a:p>
          <a:p>
            <a:pPr algn="l" indent="0" marL="0">
              <a:lnSpc>
                <a:spcPct val="133000"/>
              </a:lnSpc>
              <a:spcAft>
                <a:spcPts val="850"/>
              </a:spcAft>
              <a:buNone/>
            </a:pPr>
            <a:r>
              <a:rPr lang="en-US" sz="950" dirty="0">
                <a:solidFill>
                  <a:srgbClr val="746558"/>
                </a:solidFill>
                <a:latin typeface="Gelasio" pitchFamily="34" charset="0"/>
                <a:ea typeface="Gelasio" pitchFamily="34" charset="-122"/>
                <a:cs typeface="Gelasio" pitchFamily="34" charset="-120"/>
              </a:rPr>
              <a:t>This certifies that </a:t>
            </a:r>
            <a:pPr algn="l" indent="0" marL="0">
              <a:lnSpc>
                <a:spcPct val="133000"/>
              </a:lnSpc>
              <a:spcAft>
                <a:spcPts val="850"/>
              </a:spcAft>
              <a:buNone/>
            </a:pPr>
            <a:r>
              <a:rPr lang="en-US" sz="950" b="1" dirty="0">
                <a:solidFill>
                  <a:srgbClr val="746558"/>
                </a:solidFill>
                <a:latin typeface="Gelasio Bold" pitchFamily="34" charset="0"/>
                <a:ea typeface="Gelasio Bold" pitchFamily="34" charset="-122"/>
                <a:cs typeface="Gelasio Bold" pitchFamily="34" charset="-120"/>
              </a:rPr>
              <a:t>Abhishek Kumar Mishra</a:t>
            </a:r>
            <a:pPr algn="l" indent="0" marL="0">
              <a:lnSpc>
                <a:spcPct val="133000"/>
              </a:lnSpc>
              <a:spcAft>
                <a:spcPts val="850"/>
              </a:spcAft>
              <a:buNone/>
            </a:pPr>
            <a:r>
              <a:rPr lang="en-US" sz="950" dirty="0">
                <a:solidFill>
                  <a:srgbClr val="746558"/>
                </a:solidFill>
                <a:latin typeface="Gelasio" pitchFamily="34" charset="0"/>
                <a:ea typeface="Gelasio" pitchFamily="34" charset="-122"/>
                <a:cs typeface="Gelasio" pitchFamily="34" charset="-120"/>
              </a:rPr>
              <a:t> successfully completed an internship with MARS from June 1 to July 15, 2026, demonstrating dedication, a strong learning attitude, and genuine commitment to sustainability and community service.</a:t>
            </a:r>
            <a:endParaRPr lang="en-US" sz="950" dirty="0"/>
          </a:p>
          <a:p>
            <a:pPr algn="l" indent="0" marL="0">
              <a:lnSpc>
                <a:spcPct val="133000"/>
              </a:lnSpc>
              <a:spcAft>
                <a:spcPts val="850"/>
              </a:spcAft>
              <a:buNone/>
            </a:pPr>
            <a:r>
              <a:rPr lang="en-US" sz="950" i="1" dirty="0">
                <a:solidFill>
                  <a:srgbClr val="746558"/>
                </a:solidFill>
                <a:latin typeface="Gelasio" pitchFamily="34" charset="0"/>
                <a:ea typeface="Gelasio" pitchFamily="34" charset="-122"/>
                <a:cs typeface="Gelasio" pitchFamily="34" charset="-120"/>
              </a:rPr>
              <a:t>"Sustainability is not a destination but a continuing journey."</a:t>
            </a:r>
            <a:endParaRPr lang="en-US" sz="950" dirty="0"/>
          </a:p>
          <a:p>
            <a:pPr algn="l" indent="0" marL="0">
              <a:lnSpc>
                <a:spcPct val="133000"/>
              </a:lnSpc>
              <a:buNone/>
            </a:pPr>
            <a:r>
              <a:rPr lang="en-US" sz="950" b="1" dirty="0">
                <a:solidFill>
                  <a:srgbClr val="746558"/>
                </a:solidFill>
                <a:latin typeface="Gelasio Bold" pitchFamily="34" charset="0"/>
                <a:ea typeface="Gelasio Bold" pitchFamily="34" charset="-122"/>
                <a:cs typeface="Gelasio Bold" pitchFamily="34" charset="-120"/>
              </a:rPr>
              <a:t>Dr. Manish Prateek</a:t>
            </a:r>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 Director, MARS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018729"/>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484237"/>
                </a:solidFill>
                <a:latin typeface="Gelasio SemiBold" pitchFamily="34" charset="0"/>
                <a:ea typeface="Gelasio SemiBold" pitchFamily="34" charset="-122"/>
                <a:cs typeface="Gelasio SemiBold" pitchFamily="34" charset="-120"/>
              </a:rPr>
              <a:t>Problem Statement</a:t>
            </a:r>
            <a:endParaRPr lang="en-US" sz="2400" dirty="0"/>
          </a:p>
        </p:txBody>
      </p:sp>
      <p:sp>
        <p:nvSpPr>
          <p:cNvPr id="3" name="Text 1"/>
          <p:cNvSpPr/>
          <p:nvPr/>
        </p:nvSpPr>
        <p:spPr>
          <a:xfrm>
            <a:off x="496119" y="1654299"/>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Human–wildlife conflict becomes difficult to manage when information about animal movement, sightings, conflict incidents, and risk areas is scattered, delayed, or difficult to interpret. Rural communities may not know which areas currently have a higher likelihood of wildlife movement, while park rangers may need to examine different sources of information before deciding where attention should be concentrated.</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389212"/>
            <a:ext cx="2634555" cy="1735559"/>
          </a:xfrm>
          <a:prstGeom prst="rect">
            <a:avLst/>
          </a:prstGeom>
        </p:spPr>
      </p:pic>
      <p:sp>
        <p:nvSpPr>
          <p:cNvPr id="5" name="Text 2"/>
          <p:cNvSpPr/>
          <p:nvPr/>
        </p:nvSpPr>
        <p:spPr>
          <a:xfrm>
            <a:off x="691530" y="2527474"/>
            <a:ext cx="2300883"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Scattered Information</a:t>
            </a:r>
            <a:endParaRPr lang="en-US" sz="1200" dirty="0"/>
          </a:p>
        </p:txBody>
      </p:sp>
      <p:sp>
        <p:nvSpPr>
          <p:cNvPr id="6" name="Text 3"/>
          <p:cNvSpPr/>
          <p:nvPr/>
        </p:nvSpPr>
        <p:spPr>
          <a:xfrm>
            <a:off x="691530" y="2795736"/>
            <a:ext cx="230088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Wildlife movement, sightings, and conflict data exist across multiple disconnected sources, making timely decision-making difficult for both communities and rangers.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4648" y="2389212"/>
            <a:ext cx="2634630" cy="1735559"/>
          </a:xfrm>
          <a:prstGeom prst="rect">
            <a:avLst/>
          </a:prstGeom>
        </p:spPr>
      </p:pic>
      <p:sp>
        <p:nvSpPr>
          <p:cNvPr id="8" name="Text 4"/>
          <p:cNvSpPr/>
          <p:nvPr/>
        </p:nvSpPr>
        <p:spPr>
          <a:xfrm>
            <a:off x="3450059" y="2527474"/>
            <a:ext cx="2300957"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Dynamic Data Challenge</a:t>
            </a:r>
            <a:endParaRPr lang="en-US" sz="1200" dirty="0"/>
          </a:p>
        </p:txBody>
      </p:sp>
      <p:sp>
        <p:nvSpPr>
          <p:cNvPr id="9" name="Text 5"/>
          <p:cNvSpPr/>
          <p:nvPr/>
        </p:nvSpPr>
        <p:spPr>
          <a:xfrm>
            <a:off x="3450059" y="2795736"/>
            <a:ext cx="230095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Wildlife information changes over time. New observations and incident records from national parks require a platform that can be practically updated without rebuilding the entire system.</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3252" y="2389212"/>
            <a:ext cx="2634555" cy="1735559"/>
          </a:xfrm>
          <a:prstGeom prst="rect">
            <a:avLst/>
          </a:prstGeom>
        </p:spPr>
      </p:pic>
      <p:sp>
        <p:nvSpPr>
          <p:cNvPr id="11" name="Text 6"/>
          <p:cNvSpPr/>
          <p:nvPr/>
        </p:nvSpPr>
        <p:spPr>
          <a:xfrm>
            <a:off x="6208663" y="2527474"/>
            <a:ext cx="2300883"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Need for Integration</a:t>
            </a:r>
            <a:endParaRPr lang="en-US" sz="1200" dirty="0"/>
          </a:p>
        </p:txBody>
      </p:sp>
      <p:sp>
        <p:nvSpPr>
          <p:cNvPr id="12" name="Text 7"/>
          <p:cNvSpPr/>
          <p:nvPr/>
        </p:nvSpPr>
        <p:spPr>
          <a:xfrm>
            <a:off x="6208663" y="2795736"/>
            <a:ext cx="2300883"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An integrated platform combining wildlife movement, incident reporting, analytics, data management, and AI-assisted risk information in one interface is needed to support awareness, monitoring, and preventive action.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64331"/>
            <a:ext cx="8151763" cy="327050"/>
          </a:xfrm>
          <a:prstGeom prst="rect">
            <a:avLst/>
          </a:prstGeom>
          <a:noFill/>
          <a:ln/>
        </p:spPr>
        <p:txBody>
          <a:bodyPr wrap="none" lIns="0" tIns="0" rIns="0" bIns="0" rtlCol="0" anchor="t"/>
          <a:lstStyle/>
          <a:p>
            <a:pPr algn="l" indent="0" marL="0">
              <a:lnSpc>
                <a:spcPct val="104000"/>
              </a:lnSpc>
              <a:buNone/>
            </a:pPr>
            <a:r>
              <a:rPr lang="en-US" sz="2050" dirty="0">
                <a:solidFill>
                  <a:srgbClr val="484237"/>
                </a:solidFill>
                <a:latin typeface="Gelasio SemiBold" pitchFamily="34" charset="0"/>
                <a:ea typeface="Gelasio SemiBold" pitchFamily="34" charset="-122"/>
                <a:cs typeface="Gelasio SemiBold" pitchFamily="34" charset="-120"/>
              </a:rPr>
              <a:t>Project Objectives</a:t>
            </a:r>
            <a:endParaRPr lang="en-US" sz="2050" dirty="0"/>
          </a:p>
        </p:txBody>
      </p:sp>
      <p:sp>
        <p:nvSpPr>
          <p:cNvPr id="3" name="Text 1"/>
          <p:cNvSpPr/>
          <p:nvPr/>
        </p:nvSpPr>
        <p:spPr>
          <a:xfrm>
            <a:off x="496119" y="867966"/>
            <a:ext cx="8608963" cy="154409"/>
          </a:xfrm>
          <a:prstGeom prst="rect">
            <a:avLst/>
          </a:prstGeom>
          <a:noFill/>
          <a:ln/>
        </p:spPr>
        <p:txBody>
          <a:bodyPr wrap="none" lIns="0" tIns="0" rIns="0" bIns="0" rtlCol="0" anchor="t"/>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The main objectives were to create a centralized and usable platform for monitoring wildlife-related information and supporting responses to potential conflict situations.</a:t>
            </a:r>
            <a:endParaRPr lang="en-US" sz="800" dirty="0"/>
          </a:p>
        </p:txBody>
      </p:sp>
      <p:sp>
        <p:nvSpPr>
          <p:cNvPr id="4" name="Text 2"/>
          <p:cNvSpPr/>
          <p:nvPr/>
        </p:nvSpPr>
        <p:spPr>
          <a:xfrm>
            <a:off x="496119" y="1121718"/>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01</a:t>
            </a:r>
            <a:endParaRPr lang="en-US" sz="800" dirty="0"/>
          </a:p>
        </p:txBody>
      </p:sp>
      <p:sp>
        <p:nvSpPr>
          <p:cNvPr id="5" name="Shape 3"/>
          <p:cNvSpPr/>
          <p:nvPr/>
        </p:nvSpPr>
        <p:spPr>
          <a:xfrm>
            <a:off x="496119" y="1285280"/>
            <a:ext cx="4031754" cy="14288"/>
          </a:xfrm>
          <a:prstGeom prst="rect">
            <a:avLst/>
          </a:prstGeom>
          <a:solidFill>
            <a:srgbClr val="D3C5B6"/>
          </a:solidFill>
          <a:ln/>
        </p:spPr>
      </p:sp>
      <p:sp>
        <p:nvSpPr>
          <p:cNvPr id="6" name="Text 4"/>
          <p:cNvSpPr/>
          <p:nvPr/>
        </p:nvSpPr>
        <p:spPr>
          <a:xfrm>
            <a:off x="496119" y="1366168"/>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Web-Based Interface</a:t>
            </a:r>
            <a:endParaRPr lang="en-US" sz="1000" dirty="0"/>
          </a:p>
        </p:txBody>
      </p:sp>
      <p:sp>
        <p:nvSpPr>
          <p:cNvPr id="7" name="Text 5"/>
          <p:cNvSpPr/>
          <p:nvPr/>
        </p:nvSpPr>
        <p:spPr>
          <a:xfrm>
            <a:off x="496119" y="1582638"/>
            <a:ext cx="4031754"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Provide a web-based interface for accessing wildlife movement and conflict-related information.</a:t>
            </a:r>
            <a:endParaRPr lang="en-US" sz="800" dirty="0"/>
          </a:p>
        </p:txBody>
      </p:sp>
      <p:sp>
        <p:nvSpPr>
          <p:cNvPr id="8" name="Text 6"/>
          <p:cNvSpPr/>
          <p:nvPr/>
        </p:nvSpPr>
        <p:spPr>
          <a:xfrm>
            <a:off x="4616128" y="1121718"/>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02</a:t>
            </a:r>
            <a:endParaRPr lang="en-US" sz="800" dirty="0"/>
          </a:p>
        </p:txBody>
      </p:sp>
      <p:sp>
        <p:nvSpPr>
          <p:cNvPr id="9" name="Shape 7"/>
          <p:cNvSpPr/>
          <p:nvPr/>
        </p:nvSpPr>
        <p:spPr>
          <a:xfrm>
            <a:off x="4616128" y="1285280"/>
            <a:ext cx="4031754" cy="14288"/>
          </a:xfrm>
          <a:prstGeom prst="rect">
            <a:avLst/>
          </a:prstGeom>
          <a:solidFill>
            <a:srgbClr val="D3C5B6"/>
          </a:solidFill>
          <a:ln/>
        </p:spPr>
      </p:sp>
      <p:sp>
        <p:nvSpPr>
          <p:cNvPr id="10" name="Text 8"/>
          <p:cNvSpPr/>
          <p:nvPr/>
        </p:nvSpPr>
        <p:spPr>
          <a:xfrm>
            <a:off x="4616128" y="1366168"/>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Map-Based View</a:t>
            </a:r>
            <a:endParaRPr lang="en-US" sz="1000" dirty="0"/>
          </a:p>
        </p:txBody>
      </p:sp>
      <p:sp>
        <p:nvSpPr>
          <p:cNvPr id="11" name="Text 9"/>
          <p:cNvSpPr/>
          <p:nvPr/>
        </p:nvSpPr>
        <p:spPr>
          <a:xfrm>
            <a:off x="4616128" y="1582638"/>
            <a:ext cx="4031754"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Allow users to view wildlife activity and relevant locations through a map-based interface.</a:t>
            </a:r>
            <a:endParaRPr lang="en-US" sz="800" dirty="0"/>
          </a:p>
        </p:txBody>
      </p:sp>
      <p:sp>
        <p:nvSpPr>
          <p:cNvPr id="12" name="Text 10"/>
          <p:cNvSpPr/>
          <p:nvPr/>
        </p:nvSpPr>
        <p:spPr>
          <a:xfrm>
            <a:off x="496119" y="2058144"/>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03</a:t>
            </a:r>
            <a:endParaRPr lang="en-US" sz="800" dirty="0"/>
          </a:p>
        </p:txBody>
      </p:sp>
      <p:sp>
        <p:nvSpPr>
          <p:cNvPr id="13" name="Shape 11"/>
          <p:cNvSpPr/>
          <p:nvPr/>
        </p:nvSpPr>
        <p:spPr>
          <a:xfrm>
            <a:off x="496119" y="2221706"/>
            <a:ext cx="4031754" cy="14288"/>
          </a:xfrm>
          <a:prstGeom prst="rect">
            <a:avLst/>
          </a:prstGeom>
          <a:solidFill>
            <a:srgbClr val="D3C5B6"/>
          </a:solidFill>
          <a:ln/>
        </p:spPr>
      </p:sp>
      <p:sp>
        <p:nvSpPr>
          <p:cNvPr id="14" name="Text 12"/>
          <p:cNvSpPr/>
          <p:nvPr/>
        </p:nvSpPr>
        <p:spPr>
          <a:xfrm>
            <a:off x="496119" y="2302594"/>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Analytics</a:t>
            </a:r>
            <a:endParaRPr lang="en-US" sz="1000" dirty="0"/>
          </a:p>
        </p:txBody>
      </p:sp>
      <p:sp>
        <p:nvSpPr>
          <p:cNvPr id="15" name="Text 13"/>
          <p:cNvSpPr/>
          <p:nvPr/>
        </p:nvSpPr>
        <p:spPr>
          <a:xfrm>
            <a:off x="496119" y="2519065"/>
            <a:ext cx="4031754"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Provide analytics that help users understand sightings, threat levels, and activity patterns.</a:t>
            </a:r>
            <a:endParaRPr lang="en-US" sz="800" dirty="0"/>
          </a:p>
        </p:txBody>
      </p:sp>
      <p:sp>
        <p:nvSpPr>
          <p:cNvPr id="16" name="Text 14"/>
          <p:cNvSpPr/>
          <p:nvPr/>
        </p:nvSpPr>
        <p:spPr>
          <a:xfrm>
            <a:off x="4616128" y="2058144"/>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04</a:t>
            </a:r>
            <a:endParaRPr lang="en-US" sz="800" dirty="0"/>
          </a:p>
        </p:txBody>
      </p:sp>
      <p:sp>
        <p:nvSpPr>
          <p:cNvPr id="17" name="Shape 15"/>
          <p:cNvSpPr/>
          <p:nvPr/>
        </p:nvSpPr>
        <p:spPr>
          <a:xfrm>
            <a:off x="4616128" y="2221706"/>
            <a:ext cx="4031754" cy="14288"/>
          </a:xfrm>
          <a:prstGeom prst="rect">
            <a:avLst/>
          </a:prstGeom>
          <a:solidFill>
            <a:srgbClr val="D3C5B6"/>
          </a:solidFill>
          <a:ln/>
        </p:spPr>
      </p:sp>
      <p:sp>
        <p:nvSpPr>
          <p:cNvPr id="18" name="Text 16"/>
          <p:cNvSpPr/>
          <p:nvPr/>
        </p:nvSpPr>
        <p:spPr>
          <a:xfrm>
            <a:off x="4616128" y="2302594"/>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Incident Reporting</a:t>
            </a:r>
            <a:endParaRPr lang="en-US" sz="1000" dirty="0"/>
          </a:p>
        </p:txBody>
      </p:sp>
      <p:sp>
        <p:nvSpPr>
          <p:cNvPr id="19" name="Text 17"/>
          <p:cNvSpPr/>
          <p:nvPr/>
        </p:nvSpPr>
        <p:spPr>
          <a:xfrm>
            <a:off x="4616128" y="2519065"/>
            <a:ext cx="4031754" cy="154409"/>
          </a:xfrm>
          <a:prstGeom prst="rect">
            <a:avLst/>
          </a:prstGeom>
          <a:noFill/>
          <a:ln/>
        </p:spPr>
        <p:txBody>
          <a:bodyPr wrap="none" lIns="0" tIns="0" rIns="0" bIns="0" rtlCol="0" anchor="t"/>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Provide a structured mechanism for reporting wildlife sightings or conflict incidents.</a:t>
            </a:r>
            <a:endParaRPr lang="en-US" sz="800" dirty="0"/>
          </a:p>
        </p:txBody>
      </p:sp>
      <p:sp>
        <p:nvSpPr>
          <p:cNvPr id="20" name="Text 18"/>
          <p:cNvSpPr/>
          <p:nvPr/>
        </p:nvSpPr>
        <p:spPr>
          <a:xfrm>
            <a:off x="496119" y="2994571"/>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05</a:t>
            </a:r>
            <a:endParaRPr lang="en-US" sz="800" dirty="0"/>
          </a:p>
        </p:txBody>
      </p:sp>
      <p:sp>
        <p:nvSpPr>
          <p:cNvPr id="21" name="Shape 19"/>
          <p:cNvSpPr/>
          <p:nvPr/>
        </p:nvSpPr>
        <p:spPr>
          <a:xfrm>
            <a:off x="496119" y="3158133"/>
            <a:ext cx="4031754" cy="14288"/>
          </a:xfrm>
          <a:prstGeom prst="rect">
            <a:avLst/>
          </a:prstGeom>
          <a:solidFill>
            <a:srgbClr val="D3C5B6"/>
          </a:solidFill>
          <a:ln/>
        </p:spPr>
      </p:sp>
      <p:sp>
        <p:nvSpPr>
          <p:cNvPr id="22" name="Text 20"/>
          <p:cNvSpPr/>
          <p:nvPr/>
        </p:nvSpPr>
        <p:spPr>
          <a:xfrm>
            <a:off x="496119" y="3239021"/>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AI Risk Information</a:t>
            </a:r>
            <a:endParaRPr lang="en-US" sz="1000" dirty="0"/>
          </a:p>
        </p:txBody>
      </p:sp>
      <p:sp>
        <p:nvSpPr>
          <p:cNvPr id="23" name="Text 21"/>
          <p:cNvSpPr/>
          <p:nvPr/>
        </p:nvSpPr>
        <p:spPr>
          <a:xfrm>
            <a:off x="496119" y="3455491"/>
            <a:ext cx="4031754"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Provide AI-assisted risk information to indicate periods or areas that may require greater attention.</a:t>
            </a:r>
            <a:endParaRPr lang="en-US" sz="800" dirty="0"/>
          </a:p>
        </p:txBody>
      </p:sp>
      <p:sp>
        <p:nvSpPr>
          <p:cNvPr id="24" name="Text 22"/>
          <p:cNvSpPr/>
          <p:nvPr/>
        </p:nvSpPr>
        <p:spPr>
          <a:xfrm>
            <a:off x="4616128" y="2994571"/>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06</a:t>
            </a:r>
            <a:endParaRPr lang="en-US" sz="800" dirty="0"/>
          </a:p>
        </p:txBody>
      </p:sp>
      <p:sp>
        <p:nvSpPr>
          <p:cNvPr id="25" name="Shape 23"/>
          <p:cNvSpPr/>
          <p:nvPr/>
        </p:nvSpPr>
        <p:spPr>
          <a:xfrm>
            <a:off x="4616128" y="3158133"/>
            <a:ext cx="4031754" cy="14288"/>
          </a:xfrm>
          <a:prstGeom prst="rect">
            <a:avLst/>
          </a:prstGeom>
          <a:solidFill>
            <a:srgbClr val="D3C5B6"/>
          </a:solidFill>
          <a:ln/>
        </p:spPr>
      </p:sp>
      <p:sp>
        <p:nvSpPr>
          <p:cNvPr id="26" name="Text 24"/>
          <p:cNvSpPr/>
          <p:nvPr/>
        </p:nvSpPr>
        <p:spPr>
          <a:xfrm>
            <a:off x="4616128" y="3239021"/>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Dataset Management</a:t>
            </a:r>
            <a:endParaRPr lang="en-US" sz="1000" dirty="0"/>
          </a:p>
        </p:txBody>
      </p:sp>
      <p:sp>
        <p:nvSpPr>
          <p:cNvPr id="27" name="Text 25"/>
          <p:cNvSpPr/>
          <p:nvPr/>
        </p:nvSpPr>
        <p:spPr>
          <a:xfrm>
            <a:off x="4616128" y="3455491"/>
            <a:ext cx="4031754"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Allow new datasets from national parks to be uploaded and managed through the system.</a:t>
            </a:r>
            <a:endParaRPr lang="en-US" sz="800" dirty="0"/>
          </a:p>
        </p:txBody>
      </p:sp>
      <p:sp>
        <p:nvSpPr>
          <p:cNvPr id="28" name="Text 26"/>
          <p:cNvSpPr/>
          <p:nvPr/>
        </p:nvSpPr>
        <p:spPr>
          <a:xfrm>
            <a:off x="496119" y="3930997"/>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07</a:t>
            </a:r>
            <a:endParaRPr lang="en-US" sz="800" dirty="0"/>
          </a:p>
        </p:txBody>
      </p:sp>
      <p:sp>
        <p:nvSpPr>
          <p:cNvPr id="29" name="Shape 27"/>
          <p:cNvSpPr/>
          <p:nvPr/>
        </p:nvSpPr>
        <p:spPr>
          <a:xfrm>
            <a:off x="496119" y="4094559"/>
            <a:ext cx="4031754" cy="14288"/>
          </a:xfrm>
          <a:prstGeom prst="rect">
            <a:avLst/>
          </a:prstGeom>
          <a:solidFill>
            <a:srgbClr val="D3C5B6"/>
          </a:solidFill>
          <a:ln/>
        </p:spPr>
      </p:sp>
      <p:sp>
        <p:nvSpPr>
          <p:cNvPr id="30" name="Text 28"/>
          <p:cNvSpPr/>
          <p:nvPr/>
        </p:nvSpPr>
        <p:spPr>
          <a:xfrm>
            <a:off x="496119" y="4175447"/>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Multi-Park Support</a:t>
            </a:r>
            <a:endParaRPr lang="en-US" sz="1000" dirty="0"/>
          </a:p>
        </p:txBody>
      </p:sp>
      <p:sp>
        <p:nvSpPr>
          <p:cNvPr id="31" name="Text 29"/>
          <p:cNvSpPr/>
          <p:nvPr/>
        </p:nvSpPr>
        <p:spPr>
          <a:xfrm>
            <a:off x="496119" y="4391918"/>
            <a:ext cx="4031754" cy="154409"/>
          </a:xfrm>
          <a:prstGeom prst="rect">
            <a:avLst/>
          </a:prstGeom>
          <a:noFill/>
          <a:ln/>
        </p:spPr>
        <p:txBody>
          <a:bodyPr wrap="none" lIns="0" tIns="0" rIns="0" bIns="0" rtlCol="0" anchor="t"/>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Support multiple national parks through a park-selection mechanism.</a:t>
            </a:r>
            <a:endParaRPr lang="en-US" sz="800" dirty="0"/>
          </a:p>
        </p:txBody>
      </p:sp>
      <p:sp>
        <p:nvSpPr>
          <p:cNvPr id="32" name="Text 30"/>
          <p:cNvSpPr/>
          <p:nvPr/>
        </p:nvSpPr>
        <p:spPr>
          <a:xfrm>
            <a:off x="4616128" y="3930997"/>
            <a:ext cx="209327" cy="130820"/>
          </a:xfrm>
          <a:prstGeom prst="rect">
            <a:avLst/>
          </a:prstGeom>
          <a:noFill/>
          <a:ln/>
        </p:spPr>
        <p:txBody>
          <a:bodyPr wrap="none" lIns="0" tIns="0" rIns="0" bIns="0" rtlCol="0" anchor="ctr"/>
          <a:lstStyle/>
          <a:p>
            <a:pPr algn="l" indent="0" marL="0">
              <a:lnSpc>
                <a:spcPct val="100000"/>
              </a:lnSpc>
              <a:buNone/>
            </a:pPr>
            <a:r>
              <a:rPr lang="en-US" sz="800" dirty="0">
                <a:solidFill>
                  <a:srgbClr val="746558"/>
                </a:solidFill>
                <a:latin typeface="Gelasio" pitchFamily="34" charset="0"/>
                <a:ea typeface="Gelasio" pitchFamily="34" charset="-122"/>
                <a:cs typeface="Gelasio" pitchFamily="34" charset="-120"/>
              </a:rPr>
              <a:t>08</a:t>
            </a:r>
            <a:endParaRPr lang="en-US" sz="800" dirty="0"/>
          </a:p>
        </p:txBody>
      </p:sp>
      <p:sp>
        <p:nvSpPr>
          <p:cNvPr id="33" name="Shape 31"/>
          <p:cNvSpPr/>
          <p:nvPr/>
        </p:nvSpPr>
        <p:spPr>
          <a:xfrm>
            <a:off x="4616128" y="4094559"/>
            <a:ext cx="4031754" cy="14288"/>
          </a:xfrm>
          <a:prstGeom prst="rect">
            <a:avLst/>
          </a:prstGeom>
          <a:solidFill>
            <a:srgbClr val="D3C5B6"/>
          </a:solidFill>
          <a:ln/>
        </p:spPr>
      </p:sp>
      <p:sp>
        <p:nvSpPr>
          <p:cNvPr id="34" name="Text 32"/>
          <p:cNvSpPr/>
          <p:nvPr/>
        </p:nvSpPr>
        <p:spPr>
          <a:xfrm>
            <a:off x="4616128" y="4175447"/>
            <a:ext cx="4031754" cy="163488"/>
          </a:xfrm>
          <a:prstGeom prst="rect">
            <a:avLst/>
          </a:prstGeom>
          <a:noFill/>
          <a:ln/>
        </p:spPr>
        <p:txBody>
          <a:bodyPr wrap="none" lIns="0" tIns="0" rIns="0" bIns="0" rtlCol="0" anchor="t"/>
          <a:lstStyle/>
          <a:p>
            <a:pPr algn="l" indent="0" marL="0">
              <a:lnSpc>
                <a:spcPct val="104000"/>
              </a:lnSpc>
              <a:buNone/>
            </a:pPr>
            <a:r>
              <a:rPr lang="en-US" sz="1000" dirty="0">
                <a:solidFill>
                  <a:srgbClr val="746558"/>
                </a:solidFill>
                <a:latin typeface="Gelasio SemiBold" pitchFamily="34" charset="0"/>
                <a:ea typeface="Gelasio SemiBold" pitchFamily="34" charset="-122"/>
                <a:cs typeface="Gelasio SemiBold" pitchFamily="34" charset="-120"/>
              </a:rPr>
              <a:t>Community &amp; Ranger Interface</a:t>
            </a:r>
            <a:endParaRPr lang="en-US" sz="1000" dirty="0"/>
          </a:p>
        </p:txBody>
      </p:sp>
      <p:sp>
        <p:nvSpPr>
          <p:cNvPr id="35" name="Text 33"/>
          <p:cNvSpPr/>
          <p:nvPr/>
        </p:nvSpPr>
        <p:spPr>
          <a:xfrm>
            <a:off x="4616128" y="4391918"/>
            <a:ext cx="4031754"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746558"/>
                </a:solidFill>
                <a:latin typeface="Gelasio" pitchFamily="34" charset="0"/>
                <a:ea typeface="Gelasio" pitchFamily="34" charset="-122"/>
                <a:cs typeface="Gelasio" pitchFamily="34" charset="-120"/>
              </a:rPr>
              <a:t>Create a practical interface that can support both community awareness and ranger decision-making.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76684"/>
            <a:ext cx="8151763" cy="272504"/>
          </a:xfrm>
          <a:prstGeom prst="rect">
            <a:avLst/>
          </a:prstGeom>
          <a:noFill/>
          <a:ln/>
        </p:spPr>
        <p:txBody>
          <a:bodyPr wrap="none" lIns="0" tIns="0" rIns="0" bIns="0" rtlCol="0" anchor="t"/>
          <a:lstStyle/>
          <a:p>
            <a:pPr algn="l" indent="0" marL="0">
              <a:lnSpc>
                <a:spcPct val="104000"/>
              </a:lnSpc>
              <a:buNone/>
            </a:pPr>
            <a:r>
              <a:rPr lang="en-US" sz="1700" dirty="0">
                <a:solidFill>
                  <a:srgbClr val="484237"/>
                </a:solidFill>
                <a:latin typeface="Gelasio SemiBold" pitchFamily="34" charset="0"/>
                <a:ea typeface="Gelasio SemiBold" pitchFamily="34" charset="-122"/>
                <a:cs typeface="Gelasio SemiBold" pitchFamily="34" charset="-120"/>
              </a:rPr>
              <a:t>Scope of the Project</a:t>
            </a:r>
            <a:endParaRPr lang="en-US" sz="1700" dirty="0"/>
          </a:p>
        </p:txBody>
      </p:sp>
      <p:sp>
        <p:nvSpPr>
          <p:cNvPr id="3" name="Text 1"/>
          <p:cNvSpPr/>
          <p:nvPr/>
        </p:nvSpPr>
        <p:spPr>
          <a:xfrm>
            <a:off x="496119" y="771823"/>
            <a:ext cx="8151763" cy="237530"/>
          </a:xfrm>
          <a:prstGeom prst="rect">
            <a:avLst/>
          </a:prstGeom>
          <a:noFill/>
          <a:ln/>
        </p:spPr>
        <p:txBody>
          <a:bodyPr wrap="square" lIns="0" tIns="0" rIns="0" bIns="0" rtlCol="0" anchor="t">
            <a:normAutofit/>
          </a:bodyPr>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The project covers the development of a web platform bringing together several information and decision-support functions related to wildlife movement and human–wildlife conflict, demonstrated with information from ten national parks.</a:t>
            </a:r>
            <a:endParaRPr lang="en-US" sz="650" dirty="0"/>
          </a:p>
        </p:txBody>
      </p:sp>
      <p:sp>
        <p:nvSpPr>
          <p:cNvPr id="4" name="Shape 2"/>
          <p:cNvSpPr/>
          <p:nvPr/>
        </p:nvSpPr>
        <p:spPr>
          <a:xfrm>
            <a:off x="496119" y="1078334"/>
            <a:ext cx="4045223" cy="789161"/>
          </a:xfrm>
          <a:prstGeom prst="roundRect">
            <a:avLst>
              <a:gd name="adj" fmla="val 1658"/>
            </a:avLst>
          </a:prstGeom>
          <a:solidFill>
            <a:srgbClr val="EEE8DD"/>
          </a:solidFill>
          <a:ln/>
        </p:spPr>
      </p:sp>
      <p:sp>
        <p:nvSpPr>
          <p:cNvPr id="5" name="Shape 3"/>
          <p:cNvSpPr/>
          <p:nvPr/>
        </p:nvSpPr>
        <p:spPr>
          <a:xfrm>
            <a:off x="583332" y="1165547"/>
            <a:ext cx="261640" cy="261640"/>
          </a:xfrm>
          <a:prstGeom prst="ellipse">
            <a:avLst/>
          </a:prstGeom>
          <a:solidFill>
            <a:srgbClr val="D3C5B6"/>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5290" y="1237431"/>
            <a:ext cx="117723" cy="117723"/>
          </a:xfrm>
          <a:prstGeom prst="rect">
            <a:avLst/>
          </a:prstGeom>
        </p:spPr>
      </p:pic>
      <p:sp>
        <p:nvSpPr>
          <p:cNvPr id="7" name="Text 4"/>
          <p:cNvSpPr/>
          <p:nvPr/>
        </p:nvSpPr>
        <p:spPr>
          <a:xfrm>
            <a:off x="583332" y="1488504"/>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Wildlife Monitoring</a:t>
            </a:r>
            <a:endParaRPr lang="en-US" sz="850" dirty="0"/>
          </a:p>
        </p:txBody>
      </p:sp>
      <p:sp>
        <p:nvSpPr>
          <p:cNvPr id="8" name="Text 5"/>
          <p:cNvSpPr/>
          <p:nvPr/>
        </p:nvSpPr>
        <p:spPr>
          <a:xfrm>
            <a:off x="583332" y="1661517"/>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Viewing animal movement and location information through the live map interface.</a:t>
            </a:r>
            <a:endParaRPr lang="en-US" sz="650" dirty="0"/>
          </a:p>
        </p:txBody>
      </p:sp>
      <p:sp>
        <p:nvSpPr>
          <p:cNvPr id="9" name="Shape 6"/>
          <p:cNvSpPr/>
          <p:nvPr/>
        </p:nvSpPr>
        <p:spPr>
          <a:xfrm>
            <a:off x="4602659" y="1078334"/>
            <a:ext cx="4045223" cy="789161"/>
          </a:xfrm>
          <a:prstGeom prst="roundRect">
            <a:avLst>
              <a:gd name="adj" fmla="val 1658"/>
            </a:avLst>
          </a:prstGeom>
          <a:solidFill>
            <a:srgbClr val="EEE8DD"/>
          </a:solidFill>
          <a:ln/>
        </p:spPr>
      </p:sp>
      <p:sp>
        <p:nvSpPr>
          <p:cNvPr id="10" name="Shape 7"/>
          <p:cNvSpPr/>
          <p:nvPr/>
        </p:nvSpPr>
        <p:spPr>
          <a:xfrm>
            <a:off x="4689872" y="1165547"/>
            <a:ext cx="261640" cy="261640"/>
          </a:xfrm>
          <a:prstGeom prst="ellipse">
            <a:avLst/>
          </a:prstGeom>
          <a:solidFill>
            <a:srgbClr val="D3C5B6"/>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1830" y="1237431"/>
            <a:ext cx="117723" cy="117723"/>
          </a:xfrm>
          <a:prstGeom prst="rect">
            <a:avLst/>
          </a:prstGeom>
        </p:spPr>
      </p:pic>
      <p:sp>
        <p:nvSpPr>
          <p:cNvPr id="12" name="Text 8"/>
          <p:cNvSpPr/>
          <p:nvPr/>
        </p:nvSpPr>
        <p:spPr>
          <a:xfrm>
            <a:off x="4689872" y="1488504"/>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Conflict Awareness</a:t>
            </a:r>
            <a:endParaRPr lang="en-US" sz="850" dirty="0"/>
          </a:p>
        </p:txBody>
      </p:sp>
      <p:sp>
        <p:nvSpPr>
          <p:cNvPr id="13" name="Text 9"/>
          <p:cNvSpPr/>
          <p:nvPr/>
        </p:nvSpPr>
        <p:spPr>
          <a:xfrm>
            <a:off x="4689872" y="1661517"/>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Displaying conflict-related zones, incidents, and risk information.</a:t>
            </a:r>
            <a:endParaRPr lang="en-US" sz="650" dirty="0"/>
          </a:p>
        </p:txBody>
      </p:sp>
      <p:sp>
        <p:nvSpPr>
          <p:cNvPr id="14" name="Shape 10"/>
          <p:cNvSpPr/>
          <p:nvPr/>
        </p:nvSpPr>
        <p:spPr>
          <a:xfrm>
            <a:off x="496119" y="1928813"/>
            <a:ext cx="4045223" cy="789161"/>
          </a:xfrm>
          <a:prstGeom prst="roundRect">
            <a:avLst>
              <a:gd name="adj" fmla="val 1658"/>
            </a:avLst>
          </a:prstGeom>
          <a:solidFill>
            <a:srgbClr val="EEE8DD"/>
          </a:solidFill>
          <a:ln/>
        </p:spPr>
      </p:sp>
      <p:sp>
        <p:nvSpPr>
          <p:cNvPr id="15" name="Shape 11"/>
          <p:cNvSpPr/>
          <p:nvPr/>
        </p:nvSpPr>
        <p:spPr>
          <a:xfrm>
            <a:off x="583332" y="2016026"/>
            <a:ext cx="261640" cy="261640"/>
          </a:xfrm>
          <a:prstGeom prst="ellipse">
            <a:avLst/>
          </a:prstGeom>
          <a:solidFill>
            <a:srgbClr val="D3C5B6"/>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290" y="2087910"/>
            <a:ext cx="117723" cy="117723"/>
          </a:xfrm>
          <a:prstGeom prst="rect">
            <a:avLst/>
          </a:prstGeom>
        </p:spPr>
      </p:pic>
      <p:sp>
        <p:nvSpPr>
          <p:cNvPr id="17" name="Text 12"/>
          <p:cNvSpPr/>
          <p:nvPr/>
        </p:nvSpPr>
        <p:spPr>
          <a:xfrm>
            <a:off x="583332" y="2338983"/>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Incident Reporting</a:t>
            </a:r>
            <a:endParaRPr lang="en-US" sz="850" dirty="0"/>
          </a:p>
        </p:txBody>
      </p:sp>
      <p:sp>
        <p:nvSpPr>
          <p:cNvPr id="18" name="Text 13"/>
          <p:cNvSpPr/>
          <p:nvPr/>
        </p:nvSpPr>
        <p:spPr>
          <a:xfrm>
            <a:off x="583332" y="2511996"/>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Recording wildlife sightings or conflict incidents with relevant details.</a:t>
            </a:r>
            <a:endParaRPr lang="en-US" sz="650" dirty="0"/>
          </a:p>
        </p:txBody>
      </p:sp>
      <p:sp>
        <p:nvSpPr>
          <p:cNvPr id="19" name="Shape 14"/>
          <p:cNvSpPr/>
          <p:nvPr/>
        </p:nvSpPr>
        <p:spPr>
          <a:xfrm>
            <a:off x="4602659" y="1928813"/>
            <a:ext cx="4045223" cy="789161"/>
          </a:xfrm>
          <a:prstGeom prst="roundRect">
            <a:avLst>
              <a:gd name="adj" fmla="val 1658"/>
            </a:avLst>
          </a:prstGeom>
          <a:solidFill>
            <a:srgbClr val="EEE8DD"/>
          </a:solidFill>
          <a:ln/>
        </p:spPr>
      </p:sp>
      <p:sp>
        <p:nvSpPr>
          <p:cNvPr id="20" name="Shape 15"/>
          <p:cNvSpPr/>
          <p:nvPr/>
        </p:nvSpPr>
        <p:spPr>
          <a:xfrm>
            <a:off x="4689872" y="2016026"/>
            <a:ext cx="261640" cy="261640"/>
          </a:xfrm>
          <a:prstGeom prst="ellipse">
            <a:avLst/>
          </a:prstGeom>
          <a:solidFill>
            <a:srgbClr val="D3C5B6"/>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1830" y="2087910"/>
            <a:ext cx="117723" cy="117723"/>
          </a:xfrm>
          <a:prstGeom prst="rect">
            <a:avLst/>
          </a:prstGeom>
        </p:spPr>
      </p:pic>
      <p:sp>
        <p:nvSpPr>
          <p:cNvPr id="22" name="Text 16"/>
          <p:cNvSpPr/>
          <p:nvPr/>
        </p:nvSpPr>
        <p:spPr>
          <a:xfrm>
            <a:off x="4689872" y="2338983"/>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Analytics</a:t>
            </a:r>
            <a:endParaRPr lang="en-US" sz="850" dirty="0"/>
          </a:p>
        </p:txBody>
      </p:sp>
      <p:sp>
        <p:nvSpPr>
          <p:cNvPr id="23" name="Text 17"/>
          <p:cNvSpPr/>
          <p:nvPr/>
        </p:nvSpPr>
        <p:spPr>
          <a:xfrm>
            <a:off x="4689872" y="2511996"/>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Viewing statistical and visual information about wildlife activity and threat patterns.</a:t>
            </a:r>
            <a:endParaRPr lang="en-US" sz="650" dirty="0"/>
          </a:p>
        </p:txBody>
      </p:sp>
      <p:sp>
        <p:nvSpPr>
          <p:cNvPr id="24" name="Shape 18"/>
          <p:cNvSpPr/>
          <p:nvPr/>
        </p:nvSpPr>
        <p:spPr>
          <a:xfrm>
            <a:off x="496119" y="2779291"/>
            <a:ext cx="4045223" cy="789161"/>
          </a:xfrm>
          <a:prstGeom prst="roundRect">
            <a:avLst>
              <a:gd name="adj" fmla="val 1658"/>
            </a:avLst>
          </a:prstGeom>
          <a:solidFill>
            <a:srgbClr val="EEE8DD"/>
          </a:solidFill>
          <a:ln/>
        </p:spPr>
      </p:sp>
      <p:sp>
        <p:nvSpPr>
          <p:cNvPr id="25" name="Shape 19"/>
          <p:cNvSpPr/>
          <p:nvPr/>
        </p:nvSpPr>
        <p:spPr>
          <a:xfrm>
            <a:off x="583332" y="2866504"/>
            <a:ext cx="261640" cy="261640"/>
          </a:xfrm>
          <a:prstGeom prst="ellipse">
            <a:avLst/>
          </a:prstGeom>
          <a:solidFill>
            <a:srgbClr val="D3C5B6"/>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5290" y="2938388"/>
            <a:ext cx="117723" cy="117723"/>
          </a:xfrm>
          <a:prstGeom prst="rect">
            <a:avLst/>
          </a:prstGeom>
        </p:spPr>
      </p:pic>
      <p:sp>
        <p:nvSpPr>
          <p:cNvPr id="27" name="Text 20"/>
          <p:cNvSpPr/>
          <p:nvPr/>
        </p:nvSpPr>
        <p:spPr>
          <a:xfrm>
            <a:off x="583332" y="3189461"/>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AI Support</a:t>
            </a:r>
            <a:endParaRPr lang="en-US" sz="850" dirty="0"/>
          </a:p>
        </p:txBody>
      </p:sp>
      <p:sp>
        <p:nvSpPr>
          <p:cNvPr id="28" name="Text 21"/>
          <p:cNvSpPr/>
          <p:nvPr/>
        </p:nvSpPr>
        <p:spPr>
          <a:xfrm>
            <a:off x="583332" y="3362474"/>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Presenting risk-prediction information and recommended attention/action areas.</a:t>
            </a:r>
            <a:endParaRPr lang="en-US" sz="650" dirty="0"/>
          </a:p>
        </p:txBody>
      </p:sp>
      <p:sp>
        <p:nvSpPr>
          <p:cNvPr id="29" name="Shape 22"/>
          <p:cNvSpPr/>
          <p:nvPr/>
        </p:nvSpPr>
        <p:spPr>
          <a:xfrm>
            <a:off x="4602659" y="2779291"/>
            <a:ext cx="4045223" cy="789161"/>
          </a:xfrm>
          <a:prstGeom prst="roundRect">
            <a:avLst>
              <a:gd name="adj" fmla="val 1658"/>
            </a:avLst>
          </a:prstGeom>
          <a:solidFill>
            <a:srgbClr val="EEE8DD"/>
          </a:solidFill>
          <a:ln/>
        </p:spPr>
      </p:sp>
      <p:sp>
        <p:nvSpPr>
          <p:cNvPr id="30" name="Shape 23"/>
          <p:cNvSpPr/>
          <p:nvPr/>
        </p:nvSpPr>
        <p:spPr>
          <a:xfrm>
            <a:off x="4689872" y="2866504"/>
            <a:ext cx="261640" cy="261640"/>
          </a:xfrm>
          <a:prstGeom prst="ellipse">
            <a:avLst/>
          </a:prstGeom>
          <a:solidFill>
            <a:srgbClr val="D3C5B6"/>
          </a:solidFill>
          <a:ln/>
        </p:spPr>
      </p:sp>
      <p:pic>
        <p:nvPicPr>
          <p:cNvPr id="3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61830" y="2938388"/>
            <a:ext cx="117723" cy="117723"/>
          </a:xfrm>
          <a:prstGeom prst="rect">
            <a:avLst/>
          </a:prstGeom>
        </p:spPr>
      </p:pic>
      <p:sp>
        <p:nvSpPr>
          <p:cNvPr id="32" name="Text 24"/>
          <p:cNvSpPr/>
          <p:nvPr/>
        </p:nvSpPr>
        <p:spPr>
          <a:xfrm>
            <a:off x="4689872" y="3189461"/>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Data Management</a:t>
            </a:r>
            <a:endParaRPr lang="en-US" sz="850" dirty="0"/>
          </a:p>
        </p:txBody>
      </p:sp>
      <p:sp>
        <p:nvSpPr>
          <p:cNvPr id="33" name="Text 25"/>
          <p:cNvSpPr/>
          <p:nvPr/>
        </p:nvSpPr>
        <p:spPr>
          <a:xfrm>
            <a:off x="4689872" y="3362474"/>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Uploading and managing new datasets received from national parks.</a:t>
            </a:r>
            <a:endParaRPr lang="en-US" sz="650" dirty="0"/>
          </a:p>
        </p:txBody>
      </p:sp>
      <p:sp>
        <p:nvSpPr>
          <p:cNvPr id="34" name="Shape 26"/>
          <p:cNvSpPr/>
          <p:nvPr/>
        </p:nvSpPr>
        <p:spPr>
          <a:xfrm>
            <a:off x="496119" y="3629769"/>
            <a:ext cx="4045223" cy="789161"/>
          </a:xfrm>
          <a:prstGeom prst="roundRect">
            <a:avLst>
              <a:gd name="adj" fmla="val 1658"/>
            </a:avLst>
          </a:prstGeom>
          <a:solidFill>
            <a:srgbClr val="EEE8DD"/>
          </a:solidFill>
          <a:ln/>
        </p:spPr>
      </p:sp>
      <p:sp>
        <p:nvSpPr>
          <p:cNvPr id="35" name="Shape 27"/>
          <p:cNvSpPr/>
          <p:nvPr/>
        </p:nvSpPr>
        <p:spPr>
          <a:xfrm>
            <a:off x="583332" y="3716982"/>
            <a:ext cx="261640" cy="261640"/>
          </a:xfrm>
          <a:prstGeom prst="ellipse">
            <a:avLst/>
          </a:prstGeom>
          <a:solidFill>
            <a:srgbClr val="D3C5B6"/>
          </a:solidFill>
          <a:ln/>
        </p:spPr>
      </p:sp>
      <p:pic>
        <p:nvPicPr>
          <p:cNvPr id="3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5290" y="3788866"/>
            <a:ext cx="117723" cy="117723"/>
          </a:xfrm>
          <a:prstGeom prst="rect">
            <a:avLst/>
          </a:prstGeom>
        </p:spPr>
      </p:pic>
      <p:sp>
        <p:nvSpPr>
          <p:cNvPr id="37" name="Text 28"/>
          <p:cNvSpPr/>
          <p:nvPr/>
        </p:nvSpPr>
        <p:spPr>
          <a:xfrm>
            <a:off x="583332" y="4039939"/>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Multi-Park Support</a:t>
            </a:r>
            <a:endParaRPr lang="en-US" sz="850" dirty="0"/>
          </a:p>
        </p:txBody>
      </p:sp>
      <p:sp>
        <p:nvSpPr>
          <p:cNvPr id="38" name="Text 29"/>
          <p:cNvSpPr/>
          <p:nvPr/>
        </p:nvSpPr>
        <p:spPr>
          <a:xfrm>
            <a:off x="583332" y="4212952"/>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Switching between supported national parks within the platform.</a:t>
            </a:r>
            <a:endParaRPr lang="en-US" sz="650" dirty="0"/>
          </a:p>
        </p:txBody>
      </p:sp>
      <p:sp>
        <p:nvSpPr>
          <p:cNvPr id="39" name="Shape 30"/>
          <p:cNvSpPr/>
          <p:nvPr/>
        </p:nvSpPr>
        <p:spPr>
          <a:xfrm>
            <a:off x="4602659" y="3629769"/>
            <a:ext cx="4045223" cy="789161"/>
          </a:xfrm>
          <a:prstGeom prst="roundRect">
            <a:avLst>
              <a:gd name="adj" fmla="val 1658"/>
            </a:avLst>
          </a:prstGeom>
          <a:solidFill>
            <a:srgbClr val="EEE8DD"/>
          </a:solidFill>
          <a:ln/>
        </p:spPr>
      </p:sp>
      <p:sp>
        <p:nvSpPr>
          <p:cNvPr id="40" name="Shape 31"/>
          <p:cNvSpPr/>
          <p:nvPr/>
        </p:nvSpPr>
        <p:spPr>
          <a:xfrm>
            <a:off x="4689872" y="3716982"/>
            <a:ext cx="261640" cy="261640"/>
          </a:xfrm>
          <a:prstGeom prst="ellipse">
            <a:avLst/>
          </a:prstGeom>
          <a:solidFill>
            <a:srgbClr val="D3C5B6"/>
          </a:solidFill>
          <a:ln/>
        </p:spPr>
      </p:sp>
      <p:pic>
        <p:nvPicPr>
          <p:cNvPr id="4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761830" y="3788866"/>
            <a:ext cx="117723" cy="117723"/>
          </a:xfrm>
          <a:prstGeom prst="rect">
            <a:avLst/>
          </a:prstGeom>
        </p:spPr>
      </p:pic>
      <p:sp>
        <p:nvSpPr>
          <p:cNvPr id="42" name="Text 32"/>
          <p:cNvSpPr/>
          <p:nvPr/>
        </p:nvSpPr>
        <p:spPr>
          <a:xfrm>
            <a:off x="4689872" y="4039939"/>
            <a:ext cx="3870796" cy="136252"/>
          </a:xfrm>
          <a:prstGeom prst="rect">
            <a:avLst/>
          </a:prstGeom>
          <a:noFill/>
          <a:ln/>
        </p:spPr>
        <p:txBody>
          <a:bodyPr wrap="none" lIns="0" tIns="0" rIns="0" bIns="0" rtlCol="0" anchor="t"/>
          <a:lstStyle/>
          <a:p>
            <a:pPr algn="l" indent="0" marL="0">
              <a:lnSpc>
                <a:spcPct val="104000"/>
              </a:lnSpc>
              <a:buNone/>
            </a:pPr>
            <a:r>
              <a:rPr lang="en-US" sz="850" dirty="0">
                <a:solidFill>
                  <a:srgbClr val="746558"/>
                </a:solidFill>
                <a:latin typeface="Gelasio SemiBold" pitchFamily="34" charset="0"/>
                <a:ea typeface="Gelasio SemiBold" pitchFamily="34" charset="-122"/>
                <a:cs typeface="Gelasio SemiBold" pitchFamily="34" charset="-120"/>
              </a:rPr>
              <a:t>User Support</a:t>
            </a:r>
            <a:endParaRPr lang="en-US" sz="850" dirty="0"/>
          </a:p>
        </p:txBody>
      </p:sp>
      <p:sp>
        <p:nvSpPr>
          <p:cNvPr id="43" name="Text 33"/>
          <p:cNvSpPr/>
          <p:nvPr/>
        </p:nvSpPr>
        <p:spPr>
          <a:xfrm>
            <a:off x="4689872" y="4212952"/>
            <a:ext cx="3870796" cy="118765"/>
          </a:xfrm>
          <a:prstGeom prst="rect">
            <a:avLst/>
          </a:prstGeom>
          <a:noFill/>
          <a:ln/>
        </p:spPr>
        <p:txBody>
          <a:bodyPr wrap="none" lIns="0" tIns="0" rIns="0" bIns="0" rtlCol="0" anchor="t"/>
          <a:lstStyle/>
          <a:p>
            <a:pPr algn="l" indent="0" marL="0">
              <a:lnSpc>
                <a:spcPct val="114000"/>
              </a:lnSpc>
              <a:buNone/>
            </a:pPr>
            <a:r>
              <a:rPr lang="en-US" sz="650" dirty="0">
                <a:solidFill>
                  <a:srgbClr val="746558"/>
                </a:solidFill>
                <a:latin typeface="Gelasio" pitchFamily="34" charset="0"/>
                <a:ea typeface="Gelasio" pitchFamily="34" charset="-122"/>
                <a:cs typeface="Gelasio" pitchFamily="34" charset="-120"/>
              </a:rPr>
              <a:t>Providing information that can assist rural communities and park rangers.</a:t>
            </a:r>
            <a:endParaRPr lang="en-US" sz="650" dirty="0"/>
          </a:p>
        </p:txBody>
      </p:sp>
      <p:sp>
        <p:nvSpPr>
          <p:cNvPr id="44" name="Shape 34"/>
          <p:cNvSpPr/>
          <p:nvPr/>
        </p:nvSpPr>
        <p:spPr>
          <a:xfrm>
            <a:off x="496119" y="4487912"/>
            <a:ext cx="8151763" cy="278829"/>
          </a:xfrm>
          <a:prstGeom prst="roundRect">
            <a:avLst>
              <a:gd name="adj" fmla="val 4692"/>
            </a:avLst>
          </a:prstGeom>
          <a:solidFill>
            <a:srgbClr val="ECE6DF"/>
          </a:solidFill>
          <a:ln/>
        </p:spPr>
      </p:sp>
      <p:pic>
        <p:nvPicPr>
          <p:cNvPr id="45" name="Image 8" descr="preencoded.png">    </p:cNvPr>
          <p:cNvPicPr>
            <a:picLocks noChangeAspect="1"/>
          </p:cNvPicPr>
          <p:nvPr/>
        </p:nvPicPr>
        <p:blipFill>
          <a:blip r:embed="rId17"/>
          <a:stretch>
            <a:fillRect/>
          </a:stretch>
        </p:blipFill>
        <p:spPr>
          <a:xfrm>
            <a:off x="583332" y="4575646"/>
            <a:ext cx="109017" cy="87213"/>
          </a:xfrm>
          <a:prstGeom prst="rect">
            <a:avLst/>
          </a:prstGeom>
        </p:spPr>
      </p:pic>
      <p:sp>
        <p:nvSpPr>
          <p:cNvPr id="46" name="Text 35"/>
          <p:cNvSpPr/>
          <p:nvPr/>
        </p:nvSpPr>
        <p:spPr>
          <a:xfrm>
            <a:off x="779562" y="4571033"/>
            <a:ext cx="8238306" cy="118765"/>
          </a:xfrm>
          <a:prstGeom prst="rect">
            <a:avLst/>
          </a:prstGeom>
          <a:noFill/>
          <a:ln/>
        </p:spPr>
        <p:txBody>
          <a:bodyPr wrap="none" lIns="0" tIns="0" rIns="0" bIns="0" rtlCol="0" anchor="t"/>
          <a:lstStyle/>
          <a:p>
            <a:pPr algn="l" indent="0" marL="0">
              <a:lnSpc>
                <a:spcPct val="114000"/>
              </a:lnSpc>
              <a:buNone/>
            </a:pPr>
            <a:r>
              <a:rPr lang="en-US" sz="650" b="1" dirty="0">
                <a:solidFill>
                  <a:srgbClr val="000000"/>
                </a:solidFill>
                <a:latin typeface="Gelasio Bold" pitchFamily="34" charset="0"/>
                <a:ea typeface="Gelasio Bold" pitchFamily="34" charset="-122"/>
                <a:cs typeface="Gelasio Bold" pitchFamily="34" charset="-120"/>
              </a:rPr>
              <a:t>Out of Scope:</a:t>
            </a:r>
            <a:pPr algn="l" indent="0" marL="0">
              <a:lnSpc>
                <a:spcPct val="114000"/>
              </a:lnSpc>
              <a:buNone/>
            </a:pPr>
            <a:r>
              <a:rPr lang="en-US" sz="650" dirty="0">
                <a:solidFill>
                  <a:srgbClr val="000000"/>
                </a:solidFill>
                <a:latin typeface="Gelasio" pitchFamily="34" charset="0"/>
                <a:ea typeface="Gelasio" pitchFamily="34" charset="-122"/>
                <a:cs typeface="Gelasio" pitchFamily="34" charset="-120"/>
              </a:rPr>
              <a:t> The system is not presented as a replacement for official wildlife authorities, field verification, or emergency response systems.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484237"/>
                </a:solidFill>
                <a:latin typeface="Gelasio SemiBold" pitchFamily="34" charset="0"/>
                <a:ea typeface="Gelasio SemiBold" pitchFamily="34" charset="-122"/>
                <a:cs typeface="Gelasio SemiBold" pitchFamily="34" charset="-120"/>
              </a:rPr>
              <a:t>Technologies &amp; System Architecture</a:t>
            </a:r>
            <a:endParaRPr lang="en-US" sz="1200" dirty="0"/>
          </a:p>
        </p:txBody>
      </p:sp>
      <p:sp>
        <p:nvSpPr>
          <p:cNvPr id="3" name="Text 1"/>
          <p:cNvSpPr/>
          <p:nvPr/>
        </p:nvSpPr>
        <p:spPr>
          <a:xfrm>
            <a:off x="496119" y="612428"/>
            <a:ext cx="4000277" cy="96887"/>
          </a:xfrm>
          <a:prstGeom prst="rect">
            <a:avLst/>
          </a:prstGeom>
          <a:noFill/>
          <a:ln/>
        </p:spPr>
        <p:txBody>
          <a:bodyPr wrap="none" lIns="0" tIns="0" rIns="0" bIns="0" rtlCol="0" anchor="t"/>
          <a:lstStyle/>
          <a:p>
            <a:pPr algn="l" indent="0" marL="0">
              <a:lnSpc>
                <a:spcPct val="104000"/>
              </a:lnSpc>
              <a:buNone/>
            </a:pPr>
            <a:r>
              <a:rPr lang="en-US" sz="600" dirty="0">
                <a:solidFill>
                  <a:srgbClr val="484237"/>
                </a:solidFill>
                <a:latin typeface="Gelasio SemiBold" pitchFamily="34" charset="0"/>
                <a:ea typeface="Gelasio SemiBold" pitchFamily="34" charset="-122"/>
                <a:cs typeface="Gelasio SemiBold" pitchFamily="34" charset="-120"/>
              </a:rPr>
              <a:t>Technologies Used</a:t>
            </a:r>
            <a:endParaRPr lang="en-US" sz="600" dirty="0"/>
          </a:p>
        </p:txBody>
      </p:sp>
      <p:sp>
        <p:nvSpPr>
          <p:cNvPr id="4" name="Shape 2"/>
          <p:cNvSpPr/>
          <p:nvPr/>
        </p:nvSpPr>
        <p:spPr>
          <a:xfrm>
            <a:off x="496119" y="744141"/>
            <a:ext cx="4000277" cy="885602"/>
          </a:xfrm>
          <a:prstGeom prst="roundRect">
            <a:avLst>
              <a:gd name="adj" fmla="val 1051"/>
            </a:avLst>
          </a:prstGeom>
          <a:noFill/>
          <a:ln w="4763">
            <a:solidFill>
              <a:srgbClr val="000000">
                <a:alpha val="8000"/>
              </a:srgbClr>
            </a:solidFill>
            <a:prstDash val="solid"/>
          </a:ln>
        </p:spPr>
      </p:sp>
      <p:sp>
        <p:nvSpPr>
          <p:cNvPr id="5" name="Shape 3"/>
          <p:cNvSpPr/>
          <p:nvPr/>
        </p:nvSpPr>
        <p:spPr>
          <a:xfrm>
            <a:off x="496119" y="872356"/>
            <a:ext cx="4000277" cy="4763"/>
          </a:xfrm>
          <a:prstGeom prst="rect">
            <a:avLst/>
          </a:prstGeom>
          <a:solidFill>
            <a:srgbClr val="000000">
              <a:alpha val="8000"/>
            </a:srgbClr>
          </a:solidFill>
          <a:ln/>
        </p:spPr>
      </p:sp>
      <p:sp>
        <p:nvSpPr>
          <p:cNvPr id="6" name="Shape 4"/>
          <p:cNvSpPr/>
          <p:nvPr/>
        </p:nvSpPr>
        <p:spPr>
          <a:xfrm>
            <a:off x="496119" y="998190"/>
            <a:ext cx="4000277" cy="4763"/>
          </a:xfrm>
          <a:prstGeom prst="rect">
            <a:avLst/>
          </a:prstGeom>
          <a:solidFill>
            <a:srgbClr val="000000">
              <a:alpha val="8000"/>
            </a:srgbClr>
          </a:solidFill>
          <a:ln/>
        </p:spPr>
      </p:sp>
      <p:sp>
        <p:nvSpPr>
          <p:cNvPr id="7" name="Shape 5"/>
          <p:cNvSpPr/>
          <p:nvPr/>
        </p:nvSpPr>
        <p:spPr>
          <a:xfrm>
            <a:off x="496119" y="1124024"/>
            <a:ext cx="4000277" cy="4763"/>
          </a:xfrm>
          <a:prstGeom prst="rect">
            <a:avLst/>
          </a:prstGeom>
          <a:solidFill>
            <a:srgbClr val="000000">
              <a:alpha val="8000"/>
            </a:srgbClr>
          </a:solidFill>
          <a:ln/>
        </p:spPr>
      </p:sp>
      <p:sp>
        <p:nvSpPr>
          <p:cNvPr id="8" name="Shape 6"/>
          <p:cNvSpPr/>
          <p:nvPr/>
        </p:nvSpPr>
        <p:spPr>
          <a:xfrm>
            <a:off x="496119" y="1249859"/>
            <a:ext cx="4000277" cy="4763"/>
          </a:xfrm>
          <a:prstGeom prst="rect">
            <a:avLst/>
          </a:prstGeom>
          <a:solidFill>
            <a:srgbClr val="000000">
              <a:alpha val="8000"/>
            </a:srgbClr>
          </a:solidFill>
          <a:ln/>
        </p:spPr>
      </p:sp>
      <p:sp>
        <p:nvSpPr>
          <p:cNvPr id="9" name="Shape 7"/>
          <p:cNvSpPr/>
          <p:nvPr/>
        </p:nvSpPr>
        <p:spPr>
          <a:xfrm>
            <a:off x="496119" y="1375693"/>
            <a:ext cx="4000277" cy="4763"/>
          </a:xfrm>
          <a:prstGeom prst="rect">
            <a:avLst/>
          </a:prstGeom>
          <a:solidFill>
            <a:srgbClr val="000000">
              <a:alpha val="8000"/>
            </a:srgbClr>
          </a:solidFill>
          <a:ln/>
        </p:spPr>
      </p:sp>
      <p:sp>
        <p:nvSpPr>
          <p:cNvPr id="10" name="Shape 8"/>
          <p:cNvSpPr/>
          <p:nvPr/>
        </p:nvSpPr>
        <p:spPr>
          <a:xfrm>
            <a:off x="496119" y="1501527"/>
            <a:ext cx="4000277" cy="4763"/>
          </a:xfrm>
          <a:prstGeom prst="rect">
            <a:avLst/>
          </a:prstGeom>
          <a:solidFill>
            <a:srgbClr val="000000">
              <a:alpha val="8000"/>
            </a:srgbClr>
          </a:solidFill>
          <a:ln/>
        </p:spPr>
      </p:sp>
      <p:sp>
        <p:nvSpPr>
          <p:cNvPr id="11" name="Text 9"/>
          <p:cNvSpPr/>
          <p:nvPr/>
        </p:nvSpPr>
        <p:spPr>
          <a:xfrm>
            <a:off x="562942" y="772269"/>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JavaScript</a:t>
            </a:r>
            <a:endParaRPr lang="en-US" sz="450" dirty="0"/>
          </a:p>
        </p:txBody>
      </p:sp>
      <p:sp>
        <p:nvSpPr>
          <p:cNvPr id="12" name="Text 10"/>
          <p:cNvSpPr/>
          <p:nvPr/>
        </p:nvSpPr>
        <p:spPr>
          <a:xfrm>
            <a:off x="2159198" y="772269"/>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Primary programming language for the web application</a:t>
            </a:r>
            <a:endParaRPr lang="en-US" sz="450" dirty="0"/>
          </a:p>
        </p:txBody>
      </p:sp>
      <p:sp>
        <p:nvSpPr>
          <p:cNvPr id="13" name="Text 11"/>
          <p:cNvSpPr/>
          <p:nvPr/>
        </p:nvSpPr>
        <p:spPr>
          <a:xfrm>
            <a:off x="562942" y="898103"/>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MongoDB</a:t>
            </a:r>
            <a:endParaRPr lang="en-US" sz="450" dirty="0"/>
          </a:p>
        </p:txBody>
      </p:sp>
      <p:sp>
        <p:nvSpPr>
          <p:cNvPr id="14" name="Text 12"/>
          <p:cNvSpPr/>
          <p:nvPr/>
        </p:nvSpPr>
        <p:spPr>
          <a:xfrm>
            <a:off x="2159198" y="898103"/>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Storing and managing application data</a:t>
            </a:r>
            <a:endParaRPr lang="en-US" sz="450" dirty="0"/>
          </a:p>
        </p:txBody>
      </p:sp>
      <p:sp>
        <p:nvSpPr>
          <p:cNvPr id="15" name="Text 13"/>
          <p:cNvSpPr/>
          <p:nvPr/>
        </p:nvSpPr>
        <p:spPr>
          <a:xfrm>
            <a:off x="562942" y="1023938"/>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Web Frontend</a:t>
            </a:r>
            <a:endParaRPr lang="en-US" sz="450" dirty="0"/>
          </a:p>
        </p:txBody>
      </p:sp>
      <p:sp>
        <p:nvSpPr>
          <p:cNvPr id="16" name="Text 14"/>
          <p:cNvSpPr/>
          <p:nvPr/>
        </p:nvSpPr>
        <p:spPr>
          <a:xfrm>
            <a:off x="2159198" y="1023938"/>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Dashboards, maps, forms, analytics, and user-facing interfaces</a:t>
            </a:r>
            <a:endParaRPr lang="en-US" sz="450" dirty="0"/>
          </a:p>
        </p:txBody>
      </p:sp>
      <p:sp>
        <p:nvSpPr>
          <p:cNvPr id="17" name="Text 15"/>
          <p:cNvSpPr/>
          <p:nvPr/>
        </p:nvSpPr>
        <p:spPr>
          <a:xfrm>
            <a:off x="562942" y="1149772"/>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Backend Services</a:t>
            </a:r>
            <a:endParaRPr lang="en-US" sz="450" dirty="0"/>
          </a:p>
        </p:txBody>
      </p:sp>
      <p:sp>
        <p:nvSpPr>
          <p:cNvPr id="18" name="Text 16"/>
          <p:cNvSpPr/>
          <p:nvPr/>
        </p:nvSpPr>
        <p:spPr>
          <a:xfrm>
            <a:off x="2159198" y="1149772"/>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Application-side processing and data operations</a:t>
            </a:r>
            <a:endParaRPr lang="en-US" sz="450" dirty="0"/>
          </a:p>
        </p:txBody>
      </p:sp>
      <p:sp>
        <p:nvSpPr>
          <p:cNvPr id="19" name="Text 17"/>
          <p:cNvSpPr/>
          <p:nvPr/>
        </p:nvSpPr>
        <p:spPr>
          <a:xfrm>
            <a:off x="562942" y="1275606"/>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AI Risk Component</a:t>
            </a:r>
            <a:endParaRPr lang="en-US" sz="450" dirty="0"/>
          </a:p>
        </p:txBody>
      </p:sp>
      <p:sp>
        <p:nvSpPr>
          <p:cNvPr id="20" name="Text 18"/>
          <p:cNvSpPr/>
          <p:nvPr/>
        </p:nvSpPr>
        <p:spPr>
          <a:xfrm>
            <a:off x="2159198" y="1275606"/>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Wildlife risk information and prediction outputs</a:t>
            </a:r>
            <a:endParaRPr lang="en-US" sz="450" dirty="0"/>
          </a:p>
        </p:txBody>
      </p:sp>
      <p:sp>
        <p:nvSpPr>
          <p:cNvPr id="21" name="Text 19"/>
          <p:cNvSpPr/>
          <p:nvPr/>
        </p:nvSpPr>
        <p:spPr>
          <a:xfrm>
            <a:off x="562942" y="1401440"/>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Dataset Management</a:t>
            </a:r>
            <a:endParaRPr lang="en-US" sz="450" dirty="0"/>
          </a:p>
        </p:txBody>
      </p:sp>
      <p:sp>
        <p:nvSpPr>
          <p:cNvPr id="22" name="Text 20"/>
          <p:cNvSpPr/>
          <p:nvPr/>
        </p:nvSpPr>
        <p:spPr>
          <a:xfrm>
            <a:off x="2159198" y="1401440"/>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Uploading and maintaining park datasets</a:t>
            </a:r>
            <a:endParaRPr lang="en-US" sz="450" dirty="0"/>
          </a:p>
        </p:txBody>
      </p:sp>
      <p:sp>
        <p:nvSpPr>
          <p:cNvPr id="23" name="Text 21"/>
          <p:cNvSpPr/>
          <p:nvPr/>
        </p:nvSpPr>
        <p:spPr>
          <a:xfrm>
            <a:off x="562942" y="1527274"/>
            <a:ext cx="1929482" cy="74340"/>
          </a:xfrm>
          <a:prstGeom prst="rect">
            <a:avLst/>
          </a:prstGeom>
          <a:noFill/>
          <a:ln/>
        </p:spPr>
        <p:txBody>
          <a:bodyPr wrap="none" lIns="0" tIns="0" rIns="0" bIns="0" rtlCol="0" anchor="t"/>
          <a:lstStyle/>
          <a:p>
            <a:pPr algn="l" indent="0" marL="0">
              <a:lnSpc>
                <a:spcPct val="100000"/>
              </a:lnSpc>
              <a:buNone/>
            </a:pPr>
            <a:r>
              <a:rPr lang="en-US" sz="450" b="1" dirty="0">
                <a:solidFill>
                  <a:srgbClr val="746558"/>
                </a:solidFill>
                <a:latin typeface="Gelasio Bold" pitchFamily="34" charset="0"/>
                <a:ea typeface="Gelasio Bold" pitchFamily="34" charset="-122"/>
                <a:cs typeface="Gelasio Bold" pitchFamily="34" charset="-120"/>
              </a:rPr>
              <a:t>AI-Assisted Tooling</a:t>
            </a:r>
            <a:endParaRPr lang="en-US" sz="450" dirty="0"/>
          </a:p>
        </p:txBody>
      </p:sp>
      <p:sp>
        <p:nvSpPr>
          <p:cNvPr id="24" name="Text 22"/>
          <p:cNvSpPr/>
          <p:nvPr/>
        </p:nvSpPr>
        <p:spPr>
          <a:xfrm>
            <a:off x="2159198" y="1527274"/>
            <a:ext cx="2727647"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Accelerating implementation and iteration during development</a:t>
            </a:r>
            <a:endParaRPr lang="en-US" sz="450" dirty="0"/>
          </a:p>
        </p:txBody>
      </p:sp>
      <p:sp>
        <p:nvSpPr>
          <p:cNvPr id="25" name="Text 23"/>
          <p:cNvSpPr/>
          <p:nvPr/>
        </p:nvSpPr>
        <p:spPr>
          <a:xfrm>
            <a:off x="4652367" y="612428"/>
            <a:ext cx="4000277" cy="96887"/>
          </a:xfrm>
          <a:prstGeom prst="rect">
            <a:avLst/>
          </a:prstGeom>
          <a:noFill/>
          <a:ln/>
        </p:spPr>
        <p:txBody>
          <a:bodyPr wrap="none" lIns="0" tIns="0" rIns="0" bIns="0" rtlCol="0" anchor="t"/>
          <a:lstStyle/>
          <a:p>
            <a:pPr algn="l" indent="0" marL="0">
              <a:lnSpc>
                <a:spcPct val="104000"/>
              </a:lnSpc>
              <a:buNone/>
            </a:pPr>
            <a:r>
              <a:rPr lang="en-US" sz="600" dirty="0">
                <a:solidFill>
                  <a:srgbClr val="484237"/>
                </a:solidFill>
                <a:latin typeface="Gelasio SemiBold" pitchFamily="34" charset="0"/>
                <a:ea typeface="Gelasio SemiBold" pitchFamily="34" charset="-122"/>
                <a:cs typeface="Gelasio SemiBold" pitchFamily="34" charset="-120"/>
              </a:rPr>
              <a:t>System Architecture</a:t>
            </a:r>
            <a:endParaRPr lang="en-US" sz="600" dirty="0"/>
          </a:p>
        </p:txBody>
      </p:sp>
      <p:sp>
        <p:nvSpPr>
          <p:cNvPr id="26" name="Text 24"/>
          <p:cNvSpPr/>
          <p:nvPr/>
        </p:nvSpPr>
        <p:spPr>
          <a:xfrm>
            <a:off x="4652367" y="740271"/>
            <a:ext cx="4000277" cy="371698"/>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The system follows a modular web-application structure. Rural users and rangers interact with the frontend interface, which communicates with backend services. The backend works with stored datasets and application data, while the AI-oriented risk component operates as a decision-support layer. MongoDB provides persistent storage, and park datasets form an important input — new information can be uploaded and managed without rebuilding the complete interface. The park-switching mechanism allows users to select the required park and view corresponding information.</a:t>
            </a:r>
            <a:endParaRPr lang="en-US" sz="450" dirty="0"/>
          </a:p>
        </p:txBody>
      </p:sp>
      <p:pic>
        <p:nvPicPr>
          <p:cNvPr id="27" name="Image 0" descr="preencoded.png">    </p:cNvPr>
          <p:cNvPicPr>
            <a:picLocks noChangeAspect="1"/>
          </p:cNvPicPr>
          <p:nvPr/>
        </p:nvPicPr>
        <p:blipFill>
          <a:blip r:embed="rId1"/>
          <a:stretch>
            <a:fillRect/>
          </a:stretch>
        </p:blipFill>
        <p:spPr>
          <a:xfrm>
            <a:off x="496119" y="1699394"/>
            <a:ext cx="8151763" cy="3730600"/>
          </a:xfrm>
          <a:prstGeom prst="rect">
            <a:avLst/>
          </a:prstGeom>
        </p:spPr>
      </p:pic>
      <p:sp>
        <p:nvSpPr>
          <p:cNvPr id="28" name="Text 25"/>
          <p:cNvSpPr/>
          <p:nvPr/>
        </p:nvSpPr>
        <p:spPr>
          <a:xfrm>
            <a:off x="6467310" y="2217306"/>
            <a:ext cx="1803246" cy="225406"/>
          </a:xfrm>
          <a:prstGeom prst="rect">
            <a:avLst/>
          </a:prstGeom>
          <a:noFill/>
          <a:ln/>
        </p:spPr>
        <p:txBody>
          <a:bodyPr wrap="none" lIns="0" tIns="0" rIns="0" bIns="0" rtlCol="0" anchor="t"/>
          <a:lstStyle/>
          <a:p>
            <a:pPr algn="l" indent="0" marL="0">
              <a:lnSpc>
                <a:spcPct val="104000"/>
              </a:lnSpc>
              <a:buNone/>
            </a:pPr>
            <a:r>
              <a:rPr lang="en-US" sz="1400" dirty="0">
                <a:solidFill>
                  <a:srgbClr val="746558"/>
                </a:solidFill>
                <a:latin typeface="Gelasio SemiBold" pitchFamily="34" charset="0"/>
                <a:ea typeface="Gelasio SemiBold" pitchFamily="34" charset="-122"/>
                <a:cs typeface="Gelasio SemiBold" pitchFamily="34" charset="-120"/>
              </a:rPr>
              <a:t>Backend &amp; Data</a:t>
            </a:r>
            <a:endParaRPr lang="en-US" sz="1400" dirty="0"/>
          </a:p>
        </p:txBody>
      </p:sp>
      <p:sp>
        <p:nvSpPr>
          <p:cNvPr id="29" name="Text 26"/>
          <p:cNvSpPr/>
          <p:nvPr/>
        </p:nvSpPr>
        <p:spPr>
          <a:xfrm>
            <a:off x="6467310" y="2506828"/>
            <a:ext cx="1987578" cy="270487"/>
          </a:xfrm>
          <a:prstGeom prst="rect">
            <a:avLst/>
          </a:prstGeom>
          <a:noFill/>
          <a:ln/>
        </p:spPr>
        <p:txBody>
          <a:bodyPr wrap="square" lIns="0" tIns="0" rIns="0" bIns="0" rtlCol="0" anchor="t">
            <a:normAutofit/>
          </a:bodyPr>
          <a:lstStyle/>
          <a:p>
            <a:pPr algn="l" indent="0" marL="0">
              <a:lnSpc>
                <a:spcPct val="78000"/>
              </a:lnSpc>
              <a:buNone/>
            </a:pPr>
            <a:r>
              <a:rPr lang="en-US" sz="1100" dirty="0">
                <a:solidFill>
                  <a:srgbClr val="746558"/>
                </a:solidFill>
                <a:latin typeface="Gelasio" pitchFamily="34" charset="0"/>
                <a:ea typeface="Gelasio" pitchFamily="34" charset="-122"/>
                <a:cs typeface="Gelasio" pitchFamily="34" charset="-120"/>
              </a:rPr>
              <a:t>APIs, services, MongoDB and park datasets</a:t>
            </a:r>
            <a:endParaRPr lang="en-US" sz="1100" dirty="0"/>
          </a:p>
        </p:txBody>
      </p:sp>
      <p:sp>
        <p:nvSpPr>
          <p:cNvPr id="30" name="Text 27"/>
          <p:cNvSpPr/>
          <p:nvPr/>
        </p:nvSpPr>
        <p:spPr>
          <a:xfrm>
            <a:off x="712951" y="3443514"/>
            <a:ext cx="1803247" cy="225406"/>
          </a:xfrm>
          <a:prstGeom prst="rect">
            <a:avLst/>
          </a:prstGeom>
          <a:noFill/>
          <a:ln/>
        </p:spPr>
        <p:txBody>
          <a:bodyPr wrap="none" lIns="0" tIns="0" rIns="0" bIns="0" rtlCol="0" anchor="t"/>
          <a:lstStyle/>
          <a:p>
            <a:pPr algn="r" indent="0" marL="0">
              <a:lnSpc>
                <a:spcPct val="104000"/>
              </a:lnSpc>
              <a:buNone/>
            </a:pPr>
            <a:r>
              <a:rPr lang="en-US" sz="1400" dirty="0">
                <a:solidFill>
                  <a:srgbClr val="746558"/>
                </a:solidFill>
                <a:latin typeface="Gelasio SemiBold" pitchFamily="34" charset="0"/>
                <a:ea typeface="Gelasio SemiBold" pitchFamily="34" charset="-122"/>
                <a:cs typeface="Gelasio SemiBold" pitchFamily="34" charset="-120"/>
              </a:rPr>
              <a:t>Web Application</a:t>
            </a:r>
            <a:endParaRPr lang="en-US" sz="1400" dirty="0"/>
          </a:p>
        </p:txBody>
      </p:sp>
      <p:sp>
        <p:nvSpPr>
          <p:cNvPr id="31" name="Text 28"/>
          <p:cNvSpPr/>
          <p:nvPr/>
        </p:nvSpPr>
        <p:spPr>
          <a:xfrm>
            <a:off x="688908" y="3733035"/>
            <a:ext cx="1827290" cy="270487"/>
          </a:xfrm>
          <a:prstGeom prst="rect">
            <a:avLst/>
          </a:prstGeom>
          <a:noFill/>
          <a:ln/>
        </p:spPr>
        <p:txBody>
          <a:bodyPr wrap="square" lIns="0" tIns="0" rIns="0" bIns="0" rtlCol="0" anchor="t">
            <a:normAutofit/>
          </a:bodyPr>
          <a:lstStyle/>
          <a:p>
            <a:pPr algn="r" indent="0" marL="0">
              <a:lnSpc>
                <a:spcPct val="78000"/>
              </a:lnSpc>
              <a:buNone/>
            </a:pPr>
            <a:r>
              <a:rPr lang="en-US" sz="1100" dirty="0">
                <a:solidFill>
                  <a:srgbClr val="746558"/>
                </a:solidFill>
                <a:latin typeface="Gelasio" pitchFamily="34" charset="0"/>
                <a:ea typeface="Gelasio" pitchFamily="34" charset="-122"/>
                <a:cs typeface="Gelasio" pitchFamily="34" charset="-120"/>
              </a:rPr>
              <a:t>Live map, analytics, reports, AI predictor</a:t>
            </a:r>
            <a:endParaRPr lang="en-US" sz="1100" dirty="0"/>
          </a:p>
        </p:txBody>
      </p:sp>
      <p:sp>
        <p:nvSpPr>
          <p:cNvPr id="32" name="Text 29"/>
          <p:cNvSpPr/>
          <p:nvPr/>
        </p:nvSpPr>
        <p:spPr>
          <a:xfrm>
            <a:off x="6467310" y="4144276"/>
            <a:ext cx="1803246" cy="225406"/>
          </a:xfrm>
          <a:prstGeom prst="rect">
            <a:avLst/>
          </a:prstGeom>
          <a:noFill/>
          <a:ln/>
        </p:spPr>
        <p:txBody>
          <a:bodyPr wrap="none" lIns="0" tIns="0" rIns="0" bIns="0" rtlCol="0" anchor="t"/>
          <a:lstStyle/>
          <a:p>
            <a:pPr algn="l" indent="0" marL="0">
              <a:lnSpc>
                <a:spcPct val="104000"/>
              </a:lnSpc>
              <a:buNone/>
            </a:pPr>
            <a:r>
              <a:rPr lang="en-US" sz="1400" dirty="0">
                <a:solidFill>
                  <a:srgbClr val="746558"/>
                </a:solidFill>
                <a:latin typeface="Gelasio SemiBold" pitchFamily="34" charset="0"/>
                <a:ea typeface="Gelasio SemiBold" pitchFamily="34" charset="-122"/>
                <a:cs typeface="Gelasio SemiBold" pitchFamily="34" charset="-120"/>
              </a:rPr>
              <a:t>Users</a:t>
            </a:r>
            <a:endParaRPr lang="en-US" sz="1400" dirty="0"/>
          </a:p>
        </p:txBody>
      </p:sp>
      <p:sp>
        <p:nvSpPr>
          <p:cNvPr id="33" name="Text 30"/>
          <p:cNvSpPr/>
          <p:nvPr/>
        </p:nvSpPr>
        <p:spPr>
          <a:xfrm>
            <a:off x="6467310" y="4433797"/>
            <a:ext cx="1987578" cy="135243"/>
          </a:xfrm>
          <a:prstGeom prst="rect">
            <a:avLst/>
          </a:prstGeom>
          <a:noFill/>
          <a:ln/>
        </p:spPr>
        <p:txBody>
          <a:bodyPr wrap="none" lIns="0" tIns="0" rIns="0" bIns="0" rtlCol="0" anchor="t"/>
          <a:lstStyle/>
          <a:p>
            <a:pPr algn="l" indent="0" marL="0">
              <a:lnSpc>
                <a:spcPct val="78000"/>
              </a:lnSpc>
              <a:buNone/>
            </a:pPr>
            <a:r>
              <a:rPr lang="en-US" sz="1100" dirty="0">
                <a:solidFill>
                  <a:srgbClr val="746558"/>
                </a:solidFill>
                <a:latin typeface="Gelasio" pitchFamily="34" charset="0"/>
                <a:ea typeface="Gelasio" pitchFamily="34" charset="-122"/>
                <a:cs typeface="Gelasio" pitchFamily="34" charset="-120"/>
              </a:rPr>
              <a:t>Rural users and park rangers</a:t>
            </a:r>
            <a:endParaRPr lang="en-US" sz="1100" dirty="0"/>
          </a:p>
        </p:txBody>
      </p:sp>
      <p:sp>
        <p:nvSpPr>
          <p:cNvPr id="34" name="Text 31"/>
          <p:cNvSpPr/>
          <p:nvPr/>
        </p:nvSpPr>
        <p:spPr>
          <a:xfrm>
            <a:off x="496119" y="5464820"/>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746558"/>
                </a:solidFill>
                <a:latin typeface="Gelasio" pitchFamily="34" charset="0"/>
                <a:ea typeface="Gelasio" pitchFamily="34" charset="-122"/>
                <a:cs typeface="Gelasio" pitchFamily="34" charset="-120"/>
              </a:rPr>
              <a:t>The architecture keeps the different responsibilities of the platform organized while allowing new park data to be introduced over time through the same application structure.</a:t>
            </a:r>
            <a:endParaRPr lang="en-US" sz="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680740"/>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484237"/>
                </a:solidFill>
                <a:latin typeface="Gelasio SemiBold" pitchFamily="34" charset="0"/>
                <a:ea typeface="Gelasio SemiBold" pitchFamily="34" charset="-122"/>
                <a:cs typeface="Gelasio SemiBold" pitchFamily="34" charset="-120"/>
              </a:rPr>
              <a:t>Platform Modules: Map, Analytics &amp; Reporting</a:t>
            </a:r>
            <a:endParaRPr lang="en-US" sz="2400" dirty="0"/>
          </a:p>
        </p:txBody>
      </p:sp>
      <p:pic>
        <p:nvPicPr>
          <p:cNvPr id="3" name="Image 0" descr="preencoded.png">    </p:cNvPr>
          <p:cNvPicPr>
            <a:picLocks noChangeAspect="1"/>
          </p:cNvPicPr>
          <p:nvPr/>
        </p:nvPicPr>
        <p:blipFill>
          <a:blip r:embed="rId1"/>
          <a:stretch>
            <a:fillRect/>
          </a:stretch>
        </p:blipFill>
        <p:spPr>
          <a:xfrm>
            <a:off x="496119" y="1316310"/>
            <a:ext cx="1516038" cy="936947"/>
          </a:xfrm>
          <a:prstGeom prst="rect">
            <a:avLst/>
          </a:prstGeom>
        </p:spPr>
      </p:pic>
      <p:sp>
        <p:nvSpPr>
          <p:cNvPr id="4" name="Text 1"/>
          <p:cNvSpPr/>
          <p:nvPr/>
        </p:nvSpPr>
        <p:spPr>
          <a:xfrm>
            <a:off x="496119" y="2408262"/>
            <a:ext cx="2613868"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Live Map Dashboard</a:t>
            </a:r>
            <a:endParaRPr lang="en-US" sz="1200" dirty="0"/>
          </a:p>
        </p:txBody>
      </p:sp>
      <p:sp>
        <p:nvSpPr>
          <p:cNvPr id="5" name="Text 2"/>
          <p:cNvSpPr/>
          <p:nvPr/>
        </p:nvSpPr>
        <p:spPr>
          <a:xfrm>
            <a:off x="496119" y="2676525"/>
            <a:ext cx="2613868" cy="17861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Provides a map-based view of wildlife locations, movement-related information, park boundaries, and conflict/risk areas. Combines park information with movement indicators and conflict-related zones to make spatial patterns easier to understand than raw records. Rangers can identify locations requiring attention; community users can understand areas of wildlife activity.</a:t>
            </a:r>
            <a:endParaRPr lang="en-US" sz="950" dirty="0"/>
          </a:p>
        </p:txBody>
      </p:sp>
      <p:pic>
        <p:nvPicPr>
          <p:cNvPr id="6" name="Image 1" descr="preencoded.png">    </p:cNvPr>
          <p:cNvPicPr>
            <a:picLocks noChangeAspect="1"/>
          </p:cNvPicPr>
          <p:nvPr/>
        </p:nvPicPr>
        <p:blipFill>
          <a:blip r:embed="rId2"/>
          <a:stretch>
            <a:fillRect/>
          </a:stretch>
        </p:blipFill>
        <p:spPr>
          <a:xfrm>
            <a:off x="3264991" y="1316310"/>
            <a:ext cx="1516038" cy="936947"/>
          </a:xfrm>
          <a:prstGeom prst="rect">
            <a:avLst/>
          </a:prstGeom>
        </p:spPr>
      </p:pic>
      <p:sp>
        <p:nvSpPr>
          <p:cNvPr id="7" name="Text 3"/>
          <p:cNvSpPr/>
          <p:nvPr/>
        </p:nvSpPr>
        <p:spPr>
          <a:xfrm>
            <a:off x="3264991" y="2408262"/>
            <a:ext cx="2613943"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Analytics Module</a:t>
            </a:r>
            <a:endParaRPr lang="en-US" sz="1200" dirty="0"/>
          </a:p>
        </p:txBody>
      </p:sp>
      <p:sp>
        <p:nvSpPr>
          <p:cNvPr id="8" name="Text 4"/>
          <p:cNvSpPr/>
          <p:nvPr/>
        </p:nvSpPr>
        <p:spPr>
          <a:xfrm>
            <a:off x="3264991" y="2676525"/>
            <a:ext cx="2613943" cy="17861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Converts stored information into visual summaries including wildlife sighting frequency by species, threat severity breakdown, and temporal activity heatmaps. Visualizations help users identify trends and compare the relative importance of different categories of information. Raw datasets can be difficult to interpret quickly; summarized analytics support faster pattern recognition.</a:t>
            </a:r>
            <a:endParaRPr lang="en-US" sz="950" dirty="0"/>
          </a:p>
        </p:txBody>
      </p:sp>
      <p:pic>
        <p:nvPicPr>
          <p:cNvPr id="9" name="Image 2" descr="preencoded.png">    </p:cNvPr>
          <p:cNvPicPr>
            <a:picLocks noChangeAspect="1"/>
          </p:cNvPicPr>
          <p:nvPr/>
        </p:nvPicPr>
        <p:blipFill>
          <a:blip r:embed="rId3"/>
          <a:stretch>
            <a:fillRect/>
          </a:stretch>
        </p:blipFill>
        <p:spPr>
          <a:xfrm>
            <a:off x="6033939" y="1316310"/>
            <a:ext cx="1516038" cy="936947"/>
          </a:xfrm>
          <a:prstGeom prst="rect">
            <a:avLst/>
          </a:prstGeom>
        </p:spPr>
      </p:pic>
      <p:sp>
        <p:nvSpPr>
          <p:cNvPr id="10" name="Text 5"/>
          <p:cNvSpPr/>
          <p:nvPr/>
        </p:nvSpPr>
        <p:spPr>
          <a:xfrm>
            <a:off x="6033939" y="2408262"/>
            <a:ext cx="2613943" cy="193849"/>
          </a:xfrm>
          <a:prstGeom prst="rect">
            <a:avLst/>
          </a:prstGeom>
          <a:noFill/>
          <a:ln/>
        </p:spPr>
        <p:txBody>
          <a:bodyPr wrap="none" lIns="0" tIns="0" rIns="0" bIns="0" rtlCol="0" anchor="t"/>
          <a:lstStyle/>
          <a:p>
            <a:pPr algn="l" indent="0" marL="0">
              <a:lnSpc>
                <a:spcPct val="104000"/>
              </a:lnSpc>
              <a:buNone/>
            </a:pPr>
            <a:r>
              <a:rPr lang="en-US" sz="1200" dirty="0">
                <a:solidFill>
                  <a:srgbClr val="746558"/>
                </a:solidFill>
                <a:latin typeface="Gelasio SemiBold" pitchFamily="34" charset="0"/>
                <a:ea typeface="Gelasio SemiBold" pitchFamily="34" charset="-122"/>
                <a:cs typeface="Gelasio SemiBold" pitchFamily="34" charset="-120"/>
              </a:rPr>
              <a:t>Incident Reporting</a:t>
            </a:r>
            <a:endParaRPr lang="en-US" sz="1200" dirty="0"/>
          </a:p>
        </p:txBody>
      </p:sp>
      <p:sp>
        <p:nvSpPr>
          <p:cNvPr id="11" name="Text 6"/>
          <p:cNvSpPr/>
          <p:nvPr/>
        </p:nvSpPr>
        <p:spPr>
          <a:xfrm>
            <a:off x="6033939" y="2676525"/>
            <a:ext cx="2613943"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46558"/>
                </a:solidFill>
                <a:latin typeface="Gelasio" pitchFamily="34" charset="0"/>
                <a:ea typeface="Gelasio" pitchFamily="34" charset="-122"/>
                <a:cs typeface="Gelasio" pitchFamily="34" charset="-120"/>
              </a:rPr>
              <a:t>Provides a structured, form-based mechanism for recording wildlife sightings and conflict incidents. Standardizes submitted information so incident records can be reviewed alongside other wildlife data. When new records are added, they support monitoring and later analysis, subject to the quality and completeness of the submitted information.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11956"/>
            <a:ext cx="8151763" cy="375493"/>
          </a:xfrm>
          <a:prstGeom prst="rect">
            <a:avLst/>
          </a:prstGeom>
          <a:noFill/>
          <a:ln/>
        </p:spPr>
        <p:txBody>
          <a:bodyPr wrap="none" lIns="0" tIns="0" rIns="0" bIns="0" rtlCol="0" anchor="t"/>
          <a:lstStyle/>
          <a:p>
            <a:pPr algn="l" indent="0" marL="0">
              <a:lnSpc>
                <a:spcPct val="104000"/>
              </a:lnSpc>
              <a:buNone/>
            </a:pPr>
            <a:r>
              <a:rPr lang="en-US" sz="2350" dirty="0">
                <a:solidFill>
                  <a:srgbClr val="484237"/>
                </a:solidFill>
                <a:latin typeface="Gelasio SemiBold" pitchFamily="34" charset="0"/>
                <a:ea typeface="Gelasio SemiBold" pitchFamily="34" charset="-122"/>
                <a:cs typeface="Gelasio SemiBold" pitchFamily="34" charset="-120"/>
              </a:rPr>
              <a:t>AI Risk Prediction &amp; Dataset Management</a:t>
            </a:r>
            <a:endParaRPr lang="en-US" sz="2350" dirty="0"/>
          </a:p>
        </p:txBody>
      </p:sp>
      <p:sp>
        <p:nvSpPr>
          <p:cNvPr id="3" name="Shape 1"/>
          <p:cNvSpPr/>
          <p:nvPr/>
        </p:nvSpPr>
        <p:spPr>
          <a:xfrm>
            <a:off x="409575" y="962025"/>
            <a:ext cx="4102373" cy="2979018"/>
          </a:xfrm>
          <a:prstGeom prst="roundRect">
            <a:avLst>
              <a:gd name="adj" fmla="val 605"/>
            </a:avLst>
          </a:prstGeom>
          <a:solidFill>
            <a:srgbClr val="D3C5B6"/>
          </a:solidFill>
          <a:ln/>
        </p:spPr>
      </p:sp>
      <p:sp>
        <p:nvSpPr>
          <p:cNvPr id="4" name="Text 2"/>
          <p:cNvSpPr/>
          <p:nvPr/>
        </p:nvSpPr>
        <p:spPr>
          <a:xfrm>
            <a:off x="529679" y="1078409"/>
            <a:ext cx="3862164" cy="187747"/>
          </a:xfrm>
          <a:prstGeom prst="rect">
            <a:avLst/>
          </a:prstGeom>
          <a:noFill/>
          <a:ln/>
        </p:spPr>
        <p:txBody>
          <a:bodyPr wrap="none" lIns="0" tIns="0" rIns="0" bIns="0" rtlCol="0" anchor="t"/>
          <a:lstStyle/>
          <a:p>
            <a:pPr algn="l" indent="0" marL="0">
              <a:lnSpc>
                <a:spcPct val="104000"/>
              </a:lnSpc>
              <a:buNone/>
            </a:pPr>
            <a:r>
              <a:rPr lang="en-US" sz="1150" dirty="0">
                <a:solidFill>
                  <a:srgbClr val="484237"/>
                </a:solidFill>
                <a:latin typeface="Gelasio SemiBold" pitchFamily="34" charset="0"/>
                <a:ea typeface="Gelasio SemiBold" pitchFamily="34" charset="-122"/>
                <a:cs typeface="Gelasio SemiBold" pitchFamily="34" charset="-120"/>
              </a:rPr>
              <a:t>AI Risk Predictor</a:t>
            </a:r>
            <a:endParaRPr lang="en-US" sz="1150" dirty="0"/>
          </a:p>
        </p:txBody>
      </p:sp>
      <p:sp>
        <p:nvSpPr>
          <p:cNvPr id="5" name="Text 3"/>
          <p:cNvSpPr/>
          <p:nvPr/>
        </p:nvSpPr>
        <p:spPr>
          <a:xfrm>
            <a:off x="529679" y="1382539"/>
            <a:ext cx="3862164" cy="567705"/>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000000"/>
                </a:solidFill>
                <a:latin typeface="Gelasio" pitchFamily="34" charset="0"/>
                <a:ea typeface="Gelasio" pitchFamily="34" charset="-122"/>
                <a:cs typeface="Gelasio" pitchFamily="34" charset="-120"/>
              </a:rPr>
              <a:t>The decision-support component presents risk-oriented information to help users understand when and where wildlife conflict may require increased attention. The demonstrated interface includes:</a:t>
            </a:r>
            <a:endParaRPr lang="en-US" sz="900" dirty="0"/>
          </a:p>
        </p:txBody>
      </p:sp>
      <p:sp>
        <p:nvSpPr>
          <p:cNvPr id="6" name="Text 4"/>
          <p:cNvSpPr/>
          <p:nvPr/>
        </p:nvSpPr>
        <p:spPr>
          <a:xfrm>
            <a:off x="529679" y="2054944"/>
            <a:ext cx="3862164" cy="1298228"/>
          </a:xfrm>
          <a:prstGeom prst="rect">
            <a:avLst/>
          </a:prstGeom>
          <a:noFill/>
          <a:ln/>
        </p:spPr>
        <p:txBody>
          <a:bodyPr wrap="square" lIns="0" tIns="0" rIns="0" bIns="0" rtlCol="0" anchor="t">
            <a:normAutofit/>
          </a:bodyPr>
          <a:lstStyle/>
          <a:p>
            <a:pPr algn="l" marL="182880" indent="-182880">
              <a:lnSpc>
                <a:spcPct val="131000"/>
              </a:lnSpc>
              <a:buSzPct val="100000"/>
              <a:buChar char="•"/>
            </a:pPr>
            <a:r>
              <a:rPr lang="en-US" sz="900" dirty="0">
                <a:solidFill>
                  <a:srgbClr val="000000"/>
                </a:solidFill>
                <a:latin typeface="Gelasio" pitchFamily="34" charset="0"/>
                <a:ea typeface="Gelasio" pitchFamily="34" charset="-122"/>
                <a:cs typeface="Gelasio" pitchFamily="34" charset="-120"/>
              </a:rPr>
              <a:t>Hourly and monthly risk information</a:t>
            </a:r>
            <a:endParaRPr lang="en-US" sz="900" dirty="0"/>
          </a:p>
          <a:p>
            <a:pPr algn="l" marL="182880" indent="-182880">
              <a:lnSpc>
                <a:spcPct val="131000"/>
              </a:lnSpc>
              <a:buSzPct val="100000"/>
              <a:buChar char="•"/>
            </a:pPr>
            <a:r>
              <a:rPr lang="en-US" sz="900" dirty="0">
                <a:solidFill>
                  <a:srgbClr val="000000"/>
                </a:solidFill>
                <a:latin typeface="Gelasio" pitchFamily="34" charset="0"/>
                <a:ea typeface="Gelasio" pitchFamily="34" charset="-122"/>
                <a:cs typeface="Gelasio" pitchFamily="34" charset="-120"/>
              </a:rPr>
              <a:t>Conflict-type breakdowns and hotspot data</a:t>
            </a:r>
            <a:endParaRPr lang="en-US" sz="900" dirty="0"/>
          </a:p>
          <a:p>
            <a:pPr algn="l" marL="182880" indent="-182880">
              <a:lnSpc>
                <a:spcPct val="131000"/>
              </a:lnSpc>
              <a:buSzPct val="100000"/>
              <a:buChar char="•"/>
            </a:pPr>
            <a:r>
              <a:rPr lang="en-US" sz="900" dirty="0">
                <a:solidFill>
                  <a:srgbClr val="000000"/>
                </a:solidFill>
                <a:latin typeface="Gelasio" pitchFamily="34" charset="0"/>
                <a:ea typeface="Gelasio" pitchFamily="34" charset="-122"/>
                <a:cs typeface="Gelasio" pitchFamily="34" charset="-120"/>
              </a:rPr>
              <a:t>Movement direction and activity windows</a:t>
            </a:r>
            <a:endParaRPr lang="en-US" sz="900" dirty="0"/>
          </a:p>
          <a:p>
            <a:pPr algn="l" marL="182880" indent="-182880">
              <a:lnSpc>
                <a:spcPct val="131000"/>
              </a:lnSpc>
              <a:buSzPct val="100000"/>
              <a:buChar char="•"/>
            </a:pPr>
            <a:r>
              <a:rPr lang="en-US" sz="900" dirty="0">
                <a:solidFill>
                  <a:srgbClr val="000000"/>
                </a:solidFill>
                <a:latin typeface="Gelasio" pitchFamily="34" charset="0"/>
                <a:ea typeface="Gelasio" pitchFamily="34" charset="-122"/>
                <a:cs typeface="Gelasio" pitchFamily="34" charset="-120"/>
              </a:rPr>
              <a:t>Suggested ranger actions</a:t>
            </a:r>
            <a:endParaRPr lang="en-US" sz="900" dirty="0"/>
          </a:p>
          <a:p>
            <a:pPr algn="l" marL="182880" indent="-182880">
              <a:lnSpc>
                <a:spcPct val="131000"/>
              </a:lnSpc>
              <a:buSzPct val="100000"/>
              <a:buChar char="•"/>
            </a:pPr>
            <a:r>
              <a:rPr lang="en-US" sz="900" dirty="0">
                <a:solidFill>
                  <a:srgbClr val="000000"/>
                </a:solidFill>
                <a:latin typeface="Gelasio" pitchFamily="34" charset="0"/>
                <a:ea typeface="Gelasio" pitchFamily="34" charset="-122"/>
                <a:cs typeface="Gelasio" pitchFamily="34" charset="-120"/>
              </a:rPr>
              <a:t>Species-specific profiles (e.g., Asian Elephant: est. population 1,940, risk index 85, HIGH threat level)</a:t>
            </a:r>
            <a:endParaRPr lang="en-US" sz="900" dirty="0"/>
          </a:p>
        </p:txBody>
      </p:sp>
      <p:sp>
        <p:nvSpPr>
          <p:cNvPr id="7" name="Text 5"/>
          <p:cNvSpPr/>
          <p:nvPr/>
        </p:nvSpPr>
        <p:spPr>
          <a:xfrm>
            <a:off x="529679" y="3457873"/>
            <a:ext cx="3862164"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000000"/>
                </a:solidFill>
                <a:latin typeface="Gelasio" pitchFamily="34" charset="0"/>
                <a:ea typeface="Gelasio" pitchFamily="34" charset="-122"/>
                <a:cs typeface="Gelasio" pitchFamily="34" charset="-120"/>
              </a:rPr>
              <a:t>Output should be interpreted as </a:t>
            </a:r>
            <a:pPr algn="l" indent="0" marL="0">
              <a:lnSpc>
                <a:spcPct val="131000"/>
              </a:lnSpc>
              <a:buNone/>
            </a:pPr>
            <a:r>
              <a:rPr lang="en-US" sz="900" b="1" dirty="0">
                <a:solidFill>
                  <a:srgbClr val="000000"/>
                </a:solidFill>
                <a:latin typeface="Gelasio Bold" pitchFamily="34" charset="0"/>
                <a:ea typeface="Gelasio Bold" pitchFamily="34" charset="-122"/>
                <a:cs typeface="Gelasio Bold" pitchFamily="34" charset="-120"/>
              </a:rPr>
              <a:t>predictive or advisory information</a:t>
            </a:r>
            <a:pPr algn="l" indent="0" marL="0">
              <a:lnSpc>
                <a:spcPct val="131000"/>
              </a:lnSpc>
              <a:buNone/>
            </a:pPr>
            <a:r>
              <a:rPr lang="en-US" sz="900" dirty="0">
                <a:solidFill>
                  <a:srgbClr val="000000"/>
                </a:solidFill>
                <a:latin typeface="Gelasio" pitchFamily="34" charset="0"/>
                <a:ea typeface="Gelasio" pitchFamily="34" charset="-122"/>
                <a:cs typeface="Gelasio" pitchFamily="34" charset="-120"/>
              </a:rPr>
              <a:t>, not as a guaranteed statement of future animal behavior.</a:t>
            </a:r>
            <a:endParaRPr lang="en-US" sz="900" dirty="0"/>
          </a:p>
        </p:txBody>
      </p:sp>
      <p:sp>
        <p:nvSpPr>
          <p:cNvPr id="8" name="Text 6"/>
          <p:cNvSpPr/>
          <p:nvPr/>
        </p:nvSpPr>
        <p:spPr>
          <a:xfrm>
            <a:off x="4723358" y="1078409"/>
            <a:ext cx="3929286" cy="187747"/>
          </a:xfrm>
          <a:prstGeom prst="rect">
            <a:avLst/>
          </a:prstGeom>
          <a:noFill/>
          <a:ln/>
        </p:spPr>
        <p:txBody>
          <a:bodyPr wrap="none" lIns="0" tIns="0" rIns="0" bIns="0" rtlCol="0" anchor="t"/>
          <a:lstStyle/>
          <a:p>
            <a:pPr algn="l" indent="0" marL="0">
              <a:lnSpc>
                <a:spcPct val="104000"/>
              </a:lnSpc>
              <a:buNone/>
            </a:pPr>
            <a:r>
              <a:rPr lang="en-US" sz="1150" dirty="0">
                <a:solidFill>
                  <a:srgbClr val="484237"/>
                </a:solidFill>
                <a:latin typeface="Gelasio SemiBold" pitchFamily="34" charset="0"/>
                <a:ea typeface="Gelasio SemiBold" pitchFamily="34" charset="-122"/>
                <a:cs typeface="Gelasio SemiBold" pitchFamily="34" charset="-120"/>
              </a:rPr>
              <a:t>Dataset Management</a:t>
            </a:r>
            <a:endParaRPr lang="en-US" sz="1150" dirty="0"/>
          </a:p>
        </p:txBody>
      </p:sp>
      <p:sp>
        <p:nvSpPr>
          <p:cNvPr id="9" name="Text 7"/>
          <p:cNvSpPr/>
          <p:nvPr/>
        </p:nvSpPr>
        <p:spPr>
          <a:xfrm>
            <a:off x="4723358" y="1382539"/>
            <a:ext cx="3929286" cy="75694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746558"/>
                </a:solidFill>
                <a:latin typeface="Gelasio" pitchFamily="34" charset="0"/>
                <a:ea typeface="Gelasio" pitchFamily="34" charset="-122"/>
                <a:cs typeface="Gelasio" pitchFamily="34" charset="-120"/>
              </a:rPr>
              <a:t>Addresses the changing nature of wildlife information. National parks may provide new datasets as additional observations become available. The system provides an interface for uploading and managing datasets without requiring developers to manually edit the application.</a:t>
            </a:r>
            <a:endParaRPr lang="en-US" sz="900" dirty="0"/>
          </a:p>
        </p:txBody>
      </p:sp>
      <p:sp>
        <p:nvSpPr>
          <p:cNvPr id="10" name="Text 8"/>
          <p:cNvSpPr/>
          <p:nvPr/>
        </p:nvSpPr>
        <p:spPr>
          <a:xfrm>
            <a:off x="4723358" y="2244179"/>
            <a:ext cx="3929286" cy="1108993"/>
          </a:xfrm>
          <a:prstGeom prst="rect">
            <a:avLst/>
          </a:prstGeom>
          <a:noFill/>
          <a:ln/>
        </p:spPr>
        <p:txBody>
          <a:bodyPr wrap="square" lIns="0" tIns="0" rIns="0" bIns="0" rtlCol="0" anchor="t">
            <a:normAutofit/>
          </a:bodyPr>
          <a:lstStyle/>
          <a:p>
            <a:pPr algn="l" marL="182880" indent="-182880">
              <a:lnSpc>
                <a:spcPct val="131000"/>
              </a:lnSpc>
              <a:buSzPct val="100000"/>
              <a:buChar char="•"/>
            </a:pPr>
            <a:r>
              <a:rPr lang="en-US" sz="900" dirty="0">
                <a:solidFill>
                  <a:srgbClr val="746558"/>
                </a:solidFill>
                <a:latin typeface="Gelasio" pitchFamily="34" charset="0"/>
                <a:ea typeface="Gelasio" pitchFamily="34" charset="-122"/>
                <a:cs typeface="Gelasio" pitchFamily="34" charset="-120"/>
              </a:rPr>
              <a:t>Drag-and-drop dataset upload</a:t>
            </a:r>
            <a:endParaRPr lang="en-US" sz="900" dirty="0"/>
          </a:p>
          <a:p>
            <a:pPr algn="l" marL="182880" indent="-182880">
              <a:lnSpc>
                <a:spcPct val="131000"/>
              </a:lnSpc>
              <a:buSzPct val="100000"/>
              <a:buChar char="•"/>
            </a:pPr>
            <a:r>
              <a:rPr lang="en-US" sz="900" dirty="0">
                <a:solidFill>
                  <a:srgbClr val="746558"/>
                </a:solidFill>
                <a:latin typeface="Gelasio" pitchFamily="34" charset="0"/>
                <a:ea typeface="Gelasio" pitchFamily="34" charset="-122"/>
                <a:cs typeface="Gelasio" pitchFamily="34" charset="-120"/>
              </a:rPr>
              <a:t>Dataset preview and validation</a:t>
            </a:r>
            <a:endParaRPr lang="en-US" sz="900" dirty="0"/>
          </a:p>
          <a:p>
            <a:pPr algn="l" marL="182880" indent="-182880">
              <a:lnSpc>
                <a:spcPct val="131000"/>
              </a:lnSpc>
              <a:buSzPct val="100000"/>
              <a:buChar char="•"/>
            </a:pPr>
            <a:r>
              <a:rPr lang="en-US" sz="900" dirty="0">
                <a:solidFill>
                  <a:srgbClr val="746558"/>
                </a:solidFill>
                <a:latin typeface="Gelasio" pitchFamily="34" charset="0"/>
                <a:ea typeface="Gelasio" pitchFamily="34" charset="-122"/>
                <a:cs typeface="Gelasio" pitchFamily="34" charset="-120"/>
              </a:rPr>
              <a:t>Version tracking and upload history</a:t>
            </a:r>
            <a:endParaRPr lang="en-US" sz="900" dirty="0"/>
          </a:p>
          <a:p>
            <a:pPr algn="l" marL="182880" indent="-182880">
              <a:lnSpc>
                <a:spcPct val="131000"/>
              </a:lnSpc>
              <a:buSzPct val="100000"/>
              <a:buChar char="•"/>
            </a:pPr>
            <a:r>
              <a:rPr lang="en-US" sz="900" dirty="0">
                <a:solidFill>
                  <a:srgbClr val="746558"/>
                </a:solidFill>
                <a:latin typeface="Gelasio" pitchFamily="34" charset="0"/>
                <a:ea typeface="Gelasio" pitchFamily="34" charset="-122"/>
                <a:cs typeface="Gelasio" pitchFamily="34" charset="-120"/>
              </a:rPr>
              <a:t>Rollback to previous datasets</a:t>
            </a:r>
            <a:endParaRPr lang="en-US" sz="900" dirty="0"/>
          </a:p>
          <a:p>
            <a:pPr algn="l" marL="182880" indent="-182880">
              <a:lnSpc>
                <a:spcPct val="131000"/>
              </a:lnSpc>
              <a:buSzPct val="100000"/>
              <a:buChar char="•"/>
            </a:pPr>
            <a:r>
              <a:rPr lang="en-US" sz="900" dirty="0">
                <a:solidFill>
                  <a:srgbClr val="746558"/>
                </a:solidFill>
                <a:latin typeface="Gelasio" pitchFamily="34" charset="0"/>
                <a:ea typeface="Gelasio" pitchFamily="34" charset="-122"/>
                <a:cs typeface="Gelasio" pitchFamily="34" charset="-120"/>
              </a:rPr>
              <a:t>Sample template downloads</a:t>
            </a:r>
            <a:endParaRPr lang="en-US" sz="900" dirty="0"/>
          </a:p>
        </p:txBody>
      </p:sp>
      <p:sp>
        <p:nvSpPr>
          <p:cNvPr id="11" name="Text 9"/>
          <p:cNvSpPr/>
          <p:nvPr/>
        </p:nvSpPr>
        <p:spPr>
          <a:xfrm>
            <a:off x="4723358" y="3457873"/>
            <a:ext cx="3929286"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746558"/>
                </a:solidFill>
                <a:latin typeface="Gelasio" pitchFamily="34" charset="0"/>
                <a:ea typeface="Gelasio" pitchFamily="34" charset="-122"/>
                <a:cs typeface="Gelasio" pitchFamily="34" charset="-120"/>
              </a:rPr>
              <a:t>This makes the data-management layer an important part of the project's long-term usability.</a:t>
            </a:r>
            <a:endParaRPr lang="en-US" sz="900" dirty="0"/>
          </a:p>
        </p:txBody>
      </p:sp>
      <p:sp>
        <p:nvSpPr>
          <p:cNvPr id="12" name="Shape 10"/>
          <p:cNvSpPr/>
          <p:nvPr/>
        </p:nvSpPr>
        <p:spPr>
          <a:xfrm>
            <a:off x="496119" y="4071938"/>
            <a:ext cx="8151763" cy="659532"/>
          </a:xfrm>
          <a:prstGeom prst="roundRect">
            <a:avLst>
              <a:gd name="adj" fmla="val 2733"/>
            </a:avLst>
          </a:prstGeom>
          <a:solidFill>
            <a:srgbClr val="ECE6DF"/>
          </a:solidFill>
          <a:ln/>
        </p:spPr>
      </p:sp>
      <p:pic>
        <p:nvPicPr>
          <p:cNvPr id="13" name="Image 0" descr="preencoded.png">    </p:cNvPr>
          <p:cNvPicPr>
            <a:picLocks noChangeAspect="1"/>
          </p:cNvPicPr>
          <p:nvPr/>
        </p:nvPicPr>
        <p:blipFill>
          <a:blip r:embed="rId1"/>
          <a:stretch>
            <a:fillRect/>
          </a:stretch>
        </p:blipFill>
        <p:spPr>
          <a:xfrm>
            <a:off x="616223" y="4236988"/>
            <a:ext cx="150168" cy="120104"/>
          </a:xfrm>
          <a:prstGeom prst="rect">
            <a:avLst/>
          </a:prstGeom>
        </p:spPr>
      </p:pic>
      <p:sp>
        <p:nvSpPr>
          <p:cNvPr id="14" name="Text 11"/>
          <p:cNvSpPr/>
          <p:nvPr/>
        </p:nvSpPr>
        <p:spPr>
          <a:xfrm>
            <a:off x="886495" y="4218310"/>
            <a:ext cx="7641282"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000000"/>
                </a:solidFill>
                <a:latin typeface="Gelasio" pitchFamily="34" charset="0"/>
                <a:ea typeface="Gelasio" pitchFamily="34" charset="-122"/>
                <a:cs typeface="Gelasio" pitchFamily="34" charset="-120"/>
              </a:rPr>
              <a:t>The platform supports </a:t>
            </a:r>
            <a:pPr algn="l" indent="0" marL="0">
              <a:lnSpc>
                <a:spcPct val="131000"/>
              </a:lnSpc>
              <a:buNone/>
            </a:pPr>
            <a:r>
              <a:rPr lang="en-US" sz="900" b="1" dirty="0">
                <a:solidFill>
                  <a:srgbClr val="000000"/>
                </a:solidFill>
                <a:latin typeface="Gelasio Bold" pitchFamily="34" charset="0"/>
                <a:ea typeface="Gelasio Bold" pitchFamily="34" charset="-122"/>
                <a:cs typeface="Gelasio Bold" pitchFamily="34" charset="-120"/>
              </a:rPr>
              <a:t>10 national parks</a:t>
            </a:r>
            <a:pPr algn="l" indent="0" marL="0">
              <a:lnSpc>
                <a:spcPct val="131000"/>
              </a:lnSpc>
              <a:buNone/>
            </a:pPr>
            <a:r>
              <a:rPr lang="en-US" sz="900" dirty="0">
                <a:solidFill>
                  <a:srgbClr val="000000"/>
                </a:solidFill>
                <a:latin typeface="Gelasio" pitchFamily="34" charset="0"/>
                <a:ea typeface="Gelasio" pitchFamily="34" charset="-122"/>
                <a:cs typeface="Gelasio" pitchFamily="34" charset="-120"/>
              </a:rPr>
              <a:t> through a park-selection mechanism, allowing the same application structure to be reused across different wildlife regions without rebuilding for each location.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14710"/>
            <a:ext cx="8151763" cy="345281"/>
          </a:xfrm>
          <a:prstGeom prst="rect">
            <a:avLst/>
          </a:prstGeom>
          <a:noFill/>
          <a:ln/>
        </p:spPr>
        <p:txBody>
          <a:bodyPr wrap="none" lIns="0" tIns="0" rIns="0" bIns="0" rtlCol="0" anchor="t"/>
          <a:lstStyle/>
          <a:p>
            <a:pPr algn="l" indent="0" marL="0">
              <a:lnSpc>
                <a:spcPct val="104000"/>
              </a:lnSpc>
              <a:buNone/>
            </a:pPr>
            <a:r>
              <a:rPr lang="en-US" sz="2150" dirty="0">
                <a:solidFill>
                  <a:srgbClr val="484237"/>
                </a:solidFill>
                <a:latin typeface="Gelasio SemiBold" pitchFamily="34" charset="0"/>
                <a:ea typeface="Gelasio SemiBold" pitchFamily="34" charset="-122"/>
                <a:cs typeface="Gelasio SemiBold" pitchFamily="34" charset="-120"/>
              </a:rPr>
              <a:t>Expected Outcomes &amp; Conclusion</a:t>
            </a:r>
            <a:endParaRPr lang="en-US" sz="21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956742"/>
            <a:ext cx="4026694" cy="1134666"/>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26643" y="1053852"/>
            <a:ext cx="165646" cy="165646"/>
          </a:xfrm>
          <a:prstGeom prst="rect">
            <a:avLst/>
          </a:prstGeom>
        </p:spPr>
      </p:pic>
      <p:sp>
        <p:nvSpPr>
          <p:cNvPr id="5" name="Text 1"/>
          <p:cNvSpPr/>
          <p:nvPr/>
        </p:nvSpPr>
        <p:spPr>
          <a:xfrm>
            <a:off x="620837" y="1400770"/>
            <a:ext cx="3777258" cy="172641"/>
          </a:xfrm>
          <a:prstGeom prst="rect">
            <a:avLst/>
          </a:prstGeom>
          <a:noFill/>
          <a:ln/>
        </p:spPr>
        <p:txBody>
          <a:bodyPr wrap="none" lIns="0" tIns="0" rIns="0" bIns="0" rtlCol="0" anchor="t"/>
          <a:lstStyle/>
          <a:p>
            <a:pPr algn="l" indent="0" marL="0">
              <a:lnSpc>
                <a:spcPct val="104000"/>
              </a:lnSpc>
              <a:buNone/>
            </a:pPr>
            <a:r>
              <a:rPr lang="en-US" sz="1050" dirty="0">
                <a:solidFill>
                  <a:srgbClr val="746558"/>
                </a:solidFill>
                <a:latin typeface="Gelasio SemiBold" pitchFamily="34" charset="0"/>
                <a:ea typeface="Gelasio SemiBold" pitchFamily="34" charset="-122"/>
                <a:cs typeface="Gelasio SemiBold" pitchFamily="34" charset="-120"/>
              </a:rPr>
              <a:t>Centralized Information</a:t>
            </a:r>
            <a:endParaRPr lang="en-US" sz="1050" dirty="0"/>
          </a:p>
        </p:txBody>
      </p:sp>
      <p:sp>
        <p:nvSpPr>
          <p:cNvPr id="6" name="Text 2"/>
          <p:cNvSpPr/>
          <p:nvPr/>
        </p:nvSpPr>
        <p:spPr>
          <a:xfrm>
            <a:off x="620837" y="1632421"/>
            <a:ext cx="3777258" cy="334268"/>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746558"/>
                </a:solidFill>
                <a:latin typeface="Gelasio" pitchFamily="34" charset="0"/>
                <a:ea typeface="Gelasio" pitchFamily="34" charset="-122"/>
                <a:cs typeface="Gelasio" pitchFamily="34" charset="-120"/>
              </a:rPr>
              <a:t>Wildlife movement, incident, analytics, and risk information presented through one unified platform.</a:t>
            </a:r>
            <a:endParaRPr lang="en-US" sz="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21188" y="956742"/>
            <a:ext cx="4026694" cy="1134666"/>
          </a:xfrm>
          <a:prstGeom prst="rect">
            <a:avLst/>
          </a:prstGeom>
        </p:spPr>
      </p:pic>
      <p:pic>
        <p:nvPicPr>
          <p:cNvPr id="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51712" y="1053852"/>
            <a:ext cx="165646" cy="165646"/>
          </a:xfrm>
          <a:prstGeom prst="rect">
            <a:avLst/>
          </a:prstGeom>
        </p:spPr>
      </p:pic>
      <p:sp>
        <p:nvSpPr>
          <p:cNvPr id="9" name="Text 3"/>
          <p:cNvSpPr/>
          <p:nvPr/>
        </p:nvSpPr>
        <p:spPr>
          <a:xfrm>
            <a:off x="4745906" y="1400770"/>
            <a:ext cx="3777258" cy="172641"/>
          </a:xfrm>
          <a:prstGeom prst="rect">
            <a:avLst/>
          </a:prstGeom>
          <a:noFill/>
          <a:ln/>
        </p:spPr>
        <p:txBody>
          <a:bodyPr wrap="none" lIns="0" tIns="0" rIns="0" bIns="0" rtlCol="0" anchor="t"/>
          <a:lstStyle/>
          <a:p>
            <a:pPr algn="l" indent="0" marL="0">
              <a:lnSpc>
                <a:spcPct val="104000"/>
              </a:lnSpc>
              <a:buNone/>
            </a:pPr>
            <a:r>
              <a:rPr lang="en-US" sz="1050" dirty="0">
                <a:solidFill>
                  <a:srgbClr val="746558"/>
                </a:solidFill>
                <a:latin typeface="Gelasio SemiBold" pitchFamily="34" charset="0"/>
                <a:ea typeface="Gelasio SemiBold" pitchFamily="34" charset="-122"/>
                <a:cs typeface="Gelasio SemiBold" pitchFamily="34" charset="-120"/>
              </a:rPr>
              <a:t>Improved Awareness</a:t>
            </a:r>
            <a:endParaRPr lang="en-US" sz="1050" dirty="0"/>
          </a:p>
        </p:txBody>
      </p:sp>
      <p:sp>
        <p:nvSpPr>
          <p:cNvPr id="10" name="Text 4"/>
          <p:cNvSpPr/>
          <p:nvPr/>
        </p:nvSpPr>
        <p:spPr>
          <a:xfrm>
            <a:off x="4745906" y="1632421"/>
            <a:ext cx="3777258" cy="334268"/>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746558"/>
                </a:solidFill>
                <a:latin typeface="Gelasio" pitchFamily="34" charset="0"/>
                <a:ea typeface="Gelasio" pitchFamily="34" charset="-122"/>
                <a:cs typeface="Gelasio" pitchFamily="34" charset="-120"/>
              </a:rPr>
              <a:t>Users obtain a clearer picture of wildlife activity and conflict-prone areas for both communities and rangers.</a:t>
            </a:r>
            <a:endParaRPr lang="en-US" sz="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119" y="2189783"/>
            <a:ext cx="4026694" cy="1134666"/>
          </a:xfrm>
          <a:prstGeom prst="rect">
            <a:avLst/>
          </a:prstGeom>
        </p:spPr>
      </p:pic>
      <p:pic>
        <p:nvPicPr>
          <p:cNvPr id="1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26643" y="2286893"/>
            <a:ext cx="165646" cy="165646"/>
          </a:xfrm>
          <a:prstGeom prst="rect">
            <a:avLst/>
          </a:prstGeom>
        </p:spPr>
      </p:pic>
      <p:sp>
        <p:nvSpPr>
          <p:cNvPr id="13" name="Text 5"/>
          <p:cNvSpPr/>
          <p:nvPr/>
        </p:nvSpPr>
        <p:spPr>
          <a:xfrm>
            <a:off x="620837" y="2633811"/>
            <a:ext cx="3777258" cy="172641"/>
          </a:xfrm>
          <a:prstGeom prst="rect">
            <a:avLst/>
          </a:prstGeom>
          <a:noFill/>
          <a:ln/>
        </p:spPr>
        <p:txBody>
          <a:bodyPr wrap="none" lIns="0" tIns="0" rIns="0" bIns="0" rtlCol="0" anchor="t"/>
          <a:lstStyle/>
          <a:p>
            <a:pPr algn="l" indent="0" marL="0">
              <a:lnSpc>
                <a:spcPct val="104000"/>
              </a:lnSpc>
              <a:buNone/>
            </a:pPr>
            <a:r>
              <a:rPr lang="en-US" sz="1050" dirty="0">
                <a:solidFill>
                  <a:srgbClr val="746558"/>
                </a:solidFill>
                <a:latin typeface="Gelasio SemiBold" pitchFamily="34" charset="0"/>
                <a:ea typeface="Gelasio SemiBold" pitchFamily="34" charset="-122"/>
                <a:cs typeface="Gelasio SemiBold" pitchFamily="34" charset="-120"/>
              </a:rPr>
              <a:t>Ranger &amp; Community Support</a:t>
            </a:r>
            <a:endParaRPr lang="en-US" sz="1050" dirty="0"/>
          </a:p>
        </p:txBody>
      </p:sp>
      <p:sp>
        <p:nvSpPr>
          <p:cNvPr id="14" name="Text 6"/>
          <p:cNvSpPr/>
          <p:nvPr/>
        </p:nvSpPr>
        <p:spPr>
          <a:xfrm>
            <a:off x="620837" y="2865462"/>
            <a:ext cx="3777258" cy="334268"/>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746558"/>
                </a:solidFill>
                <a:latin typeface="Gelasio" pitchFamily="34" charset="0"/>
                <a:ea typeface="Gelasio" pitchFamily="34" charset="-122"/>
                <a:cs typeface="Gelasio" pitchFamily="34" charset="-120"/>
              </a:rPr>
              <a:t>Rangers use maps, analytics, and risk data for planning; rural communities access information about potential wildlife activity.</a:t>
            </a:r>
            <a:endParaRPr lang="en-US" sz="850" dirty="0"/>
          </a:p>
        </p:txBody>
      </p:sp>
      <p:pic>
        <p:nvPicPr>
          <p:cNvPr id="1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21188" y="2189783"/>
            <a:ext cx="4026694" cy="1134666"/>
          </a:xfrm>
          <a:prstGeom prst="rect">
            <a:avLst/>
          </a:prstGeom>
        </p:spPr>
      </p:pic>
      <p:pic>
        <p:nvPicPr>
          <p:cNvPr id="1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51712" y="2286893"/>
            <a:ext cx="165646" cy="165646"/>
          </a:xfrm>
          <a:prstGeom prst="rect">
            <a:avLst/>
          </a:prstGeom>
        </p:spPr>
      </p:pic>
      <p:sp>
        <p:nvSpPr>
          <p:cNvPr id="17" name="Text 7"/>
          <p:cNvSpPr/>
          <p:nvPr/>
        </p:nvSpPr>
        <p:spPr>
          <a:xfrm>
            <a:off x="4745906" y="2633811"/>
            <a:ext cx="3777258" cy="172641"/>
          </a:xfrm>
          <a:prstGeom prst="rect">
            <a:avLst/>
          </a:prstGeom>
          <a:noFill/>
          <a:ln/>
        </p:spPr>
        <p:txBody>
          <a:bodyPr wrap="none" lIns="0" tIns="0" rIns="0" bIns="0" rtlCol="0" anchor="t"/>
          <a:lstStyle/>
          <a:p>
            <a:pPr algn="l" indent="0" marL="0">
              <a:lnSpc>
                <a:spcPct val="104000"/>
              </a:lnSpc>
              <a:buNone/>
            </a:pPr>
            <a:r>
              <a:rPr lang="en-US" sz="1050" dirty="0">
                <a:solidFill>
                  <a:srgbClr val="746558"/>
                </a:solidFill>
                <a:latin typeface="Gelasio SemiBold" pitchFamily="34" charset="0"/>
                <a:ea typeface="Gelasio SemiBold" pitchFamily="34" charset="-122"/>
                <a:cs typeface="Gelasio SemiBold" pitchFamily="34" charset="-120"/>
              </a:rPr>
              <a:t>Data Updatability &amp; Scalability</a:t>
            </a:r>
            <a:endParaRPr lang="en-US" sz="1050" dirty="0"/>
          </a:p>
        </p:txBody>
      </p:sp>
      <p:sp>
        <p:nvSpPr>
          <p:cNvPr id="18" name="Text 8"/>
          <p:cNvSpPr/>
          <p:nvPr/>
        </p:nvSpPr>
        <p:spPr>
          <a:xfrm>
            <a:off x="4745906" y="2865462"/>
            <a:ext cx="3777258" cy="334268"/>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746558"/>
                </a:solidFill>
                <a:latin typeface="Gelasio" pitchFamily="34" charset="0"/>
                <a:ea typeface="Gelasio" pitchFamily="34" charset="-122"/>
                <a:cs typeface="Gelasio" pitchFamily="34" charset="-120"/>
              </a:rPr>
              <a:t>New park datasets introduced through Dataset Management; the same platform structure supports multiple national parks with future extensibility.</a:t>
            </a:r>
            <a:endParaRPr lang="en-US" sz="850" dirty="0"/>
          </a:p>
        </p:txBody>
      </p:sp>
      <p:sp>
        <p:nvSpPr>
          <p:cNvPr id="19" name="Text 9"/>
          <p:cNvSpPr/>
          <p:nvPr/>
        </p:nvSpPr>
        <p:spPr>
          <a:xfrm>
            <a:off x="496119" y="3533477"/>
            <a:ext cx="3941118" cy="172641"/>
          </a:xfrm>
          <a:prstGeom prst="rect">
            <a:avLst/>
          </a:prstGeom>
          <a:noFill/>
          <a:ln/>
        </p:spPr>
        <p:txBody>
          <a:bodyPr wrap="none" lIns="0" tIns="0" rIns="0" bIns="0" rtlCol="0" anchor="t"/>
          <a:lstStyle/>
          <a:p>
            <a:pPr algn="l" indent="0" marL="0">
              <a:lnSpc>
                <a:spcPct val="104000"/>
              </a:lnSpc>
              <a:buNone/>
            </a:pPr>
            <a:r>
              <a:rPr lang="en-US" sz="1050" dirty="0">
                <a:solidFill>
                  <a:srgbClr val="484237"/>
                </a:solidFill>
                <a:latin typeface="Gelasio SemiBold" pitchFamily="34" charset="0"/>
                <a:ea typeface="Gelasio SemiBold" pitchFamily="34" charset="-122"/>
                <a:cs typeface="Gelasio SemiBold" pitchFamily="34" charset="-120"/>
              </a:rPr>
              <a:t>Internship Experience</a:t>
            </a:r>
            <a:endParaRPr lang="en-US" sz="1050" dirty="0"/>
          </a:p>
        </p:txBody>
      </p:sp>
      <p:sp>
        <p:nvSpPr>
          <p:cNvPr id="20" name="Text 10"/>
          <p:cNvSpPr/>
          <p:nvPr/>
        </p:nvSpPr>
        <p:spPr>
          <a:xfrm>
            <a:off x="496119" y="3804493"/>
            <a:ext cx="3941118" cy="835670"/>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746558"/>
                </a:solidFill>
                <a:latin typeface="Gelasio" pitchFamily="34" charset="0"/>
                <a:ea typeface="Gelasio" pitchFamily="34" charset="-122"/>
                <a:cs typeface="Gelasio" pitchFamily="34" charset="-120"/>
              </a:rPr>
              <a:t>The project provided experience in participating in a complete software project — requiring practical coordination, implementation, modification, debugging, and integration within a team. The student's primary contribution was in backend development and major frontend modifications, as part of a collaborative team effort.</a:t>
            </a:r>
            <a:endParaRPr lang="en-US" sz="850" dirty="0"/>
          </a:p>
        </p:txBody>
      </p:sp>
      <p:sp>
        <p:nvSpPr>
          <p:cNvPr id="21" name="Text 11"/>
          <p:cNvSpPr/>
          <p:nvPr/>
        </p:nvSpPr>
        <p:spPr>
          <a:xfrm>
            <a:off x="4711526" y="3533477"/>
            <a:ext cx="3941118" cy="172641"/>
          </a:xfrm>
          <a:prstGeom prst="rect">
            <a:avLst/>
          </a:prstGeom>
          <a:noFill/>
          <a:ln/>
        </p:spPr>
        <p:txBody>
          <a:bodyPr wrap="none" lIns="0" tIns="0" rIns="0" bIns="0" rtlCol="0" anchor="t"/>
          <a:lstStyle/>
          <a:p>
            <a:pPr algn="l" indent="0" marL="0">
              <a:lnSpc>
                <a:spcPct val="104000"/>
              </a:lnSpc>
              <a:buNone/>
            </a:pPr>
            <a:r>
              <a:rPr lang="en-US" sz="1050" dirty="0">
                <a:solidFill>
                  <a:srgbClr val="484237"/>
                </a:solidFill>
                <a:latin typeface="Gelasio SemiBold" pitchFamily="34" charset="0"/>
                <a:ea typeface="Gelasio SemiBold" pitchFamily="34" charset="-122"/>
                <a:cs typeface="Gelasio SemiBold" pitchFamily="34" charset="-120"/>
              </a:rPr>
              <a:t>Submission Notes</a:t>
            </a:r>
            <a:endParaRPr lang="en-US" sz="1050" dirty="0"/>
          </a:p>
        </p:txBody>
      </p:sp>
      <p:sp>
        <p:nvSpPr>
          <p:cNvPr id="22" name="Text 12"/>
          <p:cNvSpPr/>
          <p:nvPr/>
        </p:nvSpPr>
        <p:spPr>
          <a:xfrm>
            <a:off x="4711526" y="3804493"/>
            <a:ext cx="3941118" cy="668536"/>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746558"/>
                </a:solidFill>
                <a:latin typeface="Gelasio" pitchFamily="34" charset="0"/>
                <a:ea typeface="Gelasio" pitchFamily="34" charset="-122"/>
                <a:cs typeface="Gelasio" pitchFamily="34" charset="-120"/>
              </a:rPr>
              <a:t>Per university instructions, the Internship Report PDF, Internship Presentation PDF, and Internship Completion Certificate PDF are to be included in the public GitHub repository used for evaluation. The scanned MARS certificate and any official communication mail should be attached before final submission.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2026-08-09T12:18:23Z</dcterms:created>
  <dcterms:modified xsi:type="dcterms:W3CDTF">2026-08-09T12:18:23Z</dcterms:modified>
</cp:coreProperties>
</file>